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DejaVu Sans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DejaVu Sans"/>
              </a:rPr>
              <a:t>RRMSE(e, s): menor es mejor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RRMSE(e, s)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7"/>
                    </a:solidFill>
                    <a:latin typeface="DejaVu Sa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0.236</c:v>
                </c:pt>
                <c:pt idx="1">
                  <c:v>0.217</c:v>
                </c:pt>
                <c:pt idx="2">
                  <c:v>0.221</c:v>
                </c:pt>
                <c:pt idx="3">
                  <c:v>0.252</c:v>
                </c:pt>
                <c:pt idx="4">
                  <c:v>0.305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7"/>
                  </a:solidFill>
                  <a:latin typeface="DejaVu Sa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94A3B8"/>
                    </a:solidFill>
                    <a:latin typeface="Arial"/>
                  </a:rPr>
                  <a:t>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DejaVu Sa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6350" cap="flat">
              <a:solidFill>
                <a:srgbClr val="1F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DejaVu Sa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A2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7"/>
                </a:solidFill>
                <a:latin typeface="DejaVu Sans"/>
              </a:defRPr>
            </a:pPr>
            <a:r>
              <a:rPr sz="1300" b="0" i="0" u="none" strike="noStrike">
                <a:solidFill>
                  <a:srgbClr val="E6EDF7"/>
                </a:solidFill>
                <a:latin typeface="DejaVu Sans"/>
              </a:rPr>
              <a:t>Spread λmax/λmin de 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7"/>
                    </a:solidFill>
                    <a:latin typeface="DejaVu Sa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147</c:v>
                </c:pt>
                <c:pt idx="2">
                  <c:v>284</c:v>
                </c:pt>
                <c:pt idx="3">
                  <c:v>489</c:v>
                </c:pt>
                <c:pt idx="4">
                  <c:v>792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7"/>
                  </a:solidFill>
                  <a:latin typeface="DejaVu Sa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94A3B8"/>
                    </a:solidFill>
                    <a:latin typeface="Arial"/>
                  </a:rPr>
                  <a:t>M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DejaVu Sa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0"/>
        </c:scaling>
        <c:delete val="0"/>
        <c:axPos val="l"/>
        <c:majorGridlines>
          <c:spPr>
            <a:ln w="6350" cap="flat">
              <a:solidFill>
                <a:srgbClr val="1F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DejaVu Sa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A2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IN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22.46 · PASA · Proyecto 1 · Resultados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22.46 · PROCESAMIENTO ADAPTATIVO DE SEÑALES ALEATORIAS · PROYECTO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Denoising de EEG con NLMS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Sacar parpadeos reales con una referencia de EOG: qué falló, por qué, y cómo elegimos μ̃, δ y 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Pedro Stefoni Rey Iraola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Vito Pensa Piccolo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Javier Pérez Baltasar Loasada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RESULTADOS · OCTUBRE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00 · DE DÓNDE PARTIMOS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Cancelación adaptativa de ruido, con una sola referencia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377440" cy="1097280"/>
          </a:xfrm>
          <a:prstGeom prst="rect">
            <a:avLst/>
          </a:prstGeom>
          <a:solidFill>
            <a:srgbClr val="10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2377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x(n)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Referencia: canal HEO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[HEO(n), HEO(n−1), HEO(n−2)]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0" y="2834640"/>
            <a:ext cx="2560320" cy="1097280"/>
          </a:xfrm>
          <a:prstGeom prst="rect">
            <a:avLst/>
          </a:prstGeom>
          <a:solidFill>
            <a:srgbClr val="10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834640"/>
            <a:ext cx="256032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w(n)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 de M = 3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 ajusta con NLMS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2560320" cy="960120"/>
          </a:xfrm>
          <a:prstGeom prst="rect">
            <a:avLst/>
          </a:prstGeom>
          <a:solidFill>
            <a:srgbClr val="10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234440"/>
            <a:ext cx="256032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y(n)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Electrodo (Fp1, Fp2, Pz)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 = s + λ·η_EOG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0" y="3017520"/>
            <a:ext cx="731520" cy="731520"/>
          </a:xfrm>
          <a:prstGeom prst="ellipse">
            <a:avLst/>
          </a:prstGeom>
          <a:solidFill>
            <a:srgbClr val="10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Σ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0" y="2834640"/>
            <a:ext cx="2468880" cy="1097280"/>
          </a:xfrm>
          <a:prstGeom prst="rect">
            <a:avLst/>
          </a:prstGeom>
          <a:solidFill>
            <a:srgbClr val="101A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834640"/>
            <a:ext cx="24688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e(n) ≈ s(n)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Salida: el EEG estimado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0" y="3383280"/>
            <a:ext cx="8229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3383280"/>
            <a:ext cx="10058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80960" y="2194560"/>
            <a:ext cx="0" cy="8229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3383280"/>
            <a:ext cx="10972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0" y="2971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ŷ(n)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429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0" y="2606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95360" y="3383280"/>
            <a:ext cx="0" cy="105156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4434840"/>
            <a:ext cx="356616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029200" y="3931920"/>
            <a:ext cx="0" cy="50292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864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e(n) ajusta w(n)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solidFill>
            <a:srgbClr val="0E1628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D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e(n) = y(n) − wᵀ(n)x(n)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·      </a:t>
            </a:r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w(n+1) = w(n) + μ̃ · x(n)e(n) / (‖x(n)‖² + δ)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EEG s(n) no está en la referencia: el filtro solo puede armar la parte de y(n) correlacionada con x(n). Lo que sobra, e(n), es el EEG.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 mismo que en el design review, pero ahora con parpadeos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reales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y sin canal de EMG.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ÍNDICE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Capítulos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dataset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Eye-BCI: EEG con parpadeos crudos y marcados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2651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Inspección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hay en las señales y qué decide del filtro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4592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Primera corrida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NLMS como lo planteamos en el design review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8463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Diagnóstico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 qué fallaron los coeficientes: el rol de δ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1554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Semi-sintético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Elegir μ̃, δ y M con una respuesta conocida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2651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Datos reales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filtro elegido contra Wiener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394960" cy="914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1520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Conclusiones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funcionó, qué no y qué queda abierto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01 · EL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Eye-BCI: parpadeos reales, marcados uno por uno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760720" cy="20116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Por qué cambiamos de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5532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ds008701 el EEG venía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preprocesado: le habían sacado los parpadeos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Quedaba poco ruido de ojos para cancelar y no podíamos ver si el filtro servía.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760720" cy="21945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54864" cy="2194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es Eye-BCI (sujeto 1, sesión 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050792"/>
            <a:ext cx="55321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Tarea de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ejecución motora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fijación, mover la mano izquierda o derecha, descanso. 40 repeticiones.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62 canales de EEG + mastoides M1/M2 +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solo EOG (HEO)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Sin EMG.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Columna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Blinks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el pico de cada parpadeo, marcado por los autores.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468880" cy="13258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5448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75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223205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parpadeos en 336 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(13.4 por minuto)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463040"/>
            <a:ext cx="2377440" cy="13258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554480"/>
            <a:ext cx="23774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26880" y="2232050"/>
            <a:ext cx="21945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canales de EEG buenos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(11 puenteados, afuera)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926080"/>
            <a:ext cx="2468880" cy="13258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017520"/>
            <a:ext cx="24688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250 Hz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75120" y="3695090"/>
            <a:ext cx="228600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después de submuestrear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(de 1000 Hz)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2926080"/>
            <a:ext cx="2377440" cy="13258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017520"/>
            <a:ext cx="23774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26880" y="3695090"/>
            <a:ext cx="21945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canales de EMG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4389120"/>
            <a:ext cx="5029200" cy="141732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389120"/>
            <a:ext cx="54864" cy="1417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44805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4828032"/>
            <a:ext cx="4800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Pasa-altos de 0.5 Hz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igual en y y en x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para no tratarlos distinto.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Recorte 2–338 s: después de la tarea la señal se rompe.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· INSPECCIÓN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Cómo se ven los parpadeos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97837" y="1371600"/>
            <a:ext cx="5370886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1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89" y="1444752"/>
            <a:ext cx="5224582" cy="4791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60 s de HEO, Fp1, Fp2, F7, F8, Pz y T7. Rojo: marcas de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Blinks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; naranja: ejecución del movimiento.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Cada marca cae sobre un pico: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~250–550 µV en HEO, ~200 µV en Fp1/Fp2. La columna está bien alineada.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Picos angostos, de ~0.2 s.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HEO sirve de referencia, pero probablemente no es horizontal:</a:t>
            </a:r>
            <a:endParaRPr lang="en-US" sz="14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   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EOG horizontal casi no ve parpadeos. Este los ve más grandes que Fp1.</a:t>
            </a:r>
            <a:endParaRPr lang="en-US" sz="14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   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 más probable: es el EOG vertical con la etiqueta equivocada.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Ondas lentas en todos los canales que HEO no tiene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(las retomamos más adelante).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· INSPECCIÓN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Cuánto parpadeo llega a cada electrodo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95476"/>
            <a:ext cx="6949440" cy="2466848"/>
          </a:xfrm>
          <a:prstGeom prst="roundRect">
            <a:avLst>
              <a:gd name="adj" fmla="val 2224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1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8628"/>
            <a:ext cx="6803136" cy="2320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402786"/>
            <a:ext cx="4114800" cy="3046588"/>
          </a:xfrm>
          <a:prstGeom prst="roundRect">
            <a:avLst>
              <a:gd name="adj" fmla="val 1801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8" name="Image 1" descr="/tmp/claude-1000/-home-pedro-Documents-pasa-tps/c6b13180-8cb5-4ce6-b36f-44b56b40c212/scratchpad/deck/fig/c01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1475938"/>
            <a:ext cx="3968496" cy="2900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069080"/>
            <a:ext cx="704088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Promedio sincronizado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de 75 parpadeos (±1 s): lo atado al parpadeo se suma, el EEG tiende a 0.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Picos: HEO 485 µV · Fp1/Fpz/Fp2 ~200 µV · F7 ~85 µV · atrás 15–30 µV.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Mismo instante y misma forma en todos los canales: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solo cambia la escala.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λ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= pico del canal / pico de HEO: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≈ 0.4 en Fp1/Fp2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≈ 0.04 atrás. Gradiente adelante → atrás, simétrico.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589520" y="4617720"/>
            <a:ext cx="41148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y(n): Fp1 y Fp2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donde hay más que sacar.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Pz como control: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casi no le llega parpadeo, el filtro no debería tocarlo.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· INSPECCIÓN · PRIMERA PISTA PARA 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camino ojo → electrodo no tiene retardo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9764"/>
            <a:ext cx="6675120" cy="3004073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1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42916"/>
            <a:ext cx="6528816" cy="2857769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46304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Canal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Lag del máx.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ρ(0)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 ms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0.90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Fp2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 ms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0.90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F7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 ms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0.74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F8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 ms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0.46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Pz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 ms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0.23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709160"/>
            <a:ext cx="1124712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Correlación cruzada HEO ↔ canal en ±1 s alrededor de cada parpadeo, promediada.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máximo está en lag 0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(≤ 1 muestra): el camino es casi una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ganancia pura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Consecuencia: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alcanza con un FIR muy corto. Arrancamos con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 = 3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(He et al., 2004) y lo verificamos con un barrido en el cap. 05.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Las curvas son anchas porque el parpadeo es lento frente a 4 ms, no por retardo.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· INSPECCIÓN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Las bandas se pisan, y HEO casi no ve EEG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8671"/>
            <a:ext cx="6400800" cy="2923378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2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1823"/>
            <a:ext cx="6254496" cy="27770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26280"/>
            <a:ext cx="640080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HEO tiene casi toda su potencia por debajo de ~10 Hz: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entre 1 y 5 Hz, 100 veces más que el EEG. Es δ y θ: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pasa-altos fijo se lleva EEG.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Pz y T7 tienen α (~10 Hz) y β (~18 Hz): lo que el filtro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tiene que tocar.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50 Hz hay un pozo: ya venía con notch.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ρ(HEO, canal)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Con parpadeos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Sin parpadeos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0.17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Fp2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0.15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F7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0.72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0.00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Pz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0.17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−0.04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Mediana (51)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0.34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−0.03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32320" y="3657600"/>
            <a:ext cx="4572000" cy="21488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32320" y="3657600"/>
            <a:ext cx="54864" cy="2148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0" y="3749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Riesgo del método: fuga de EEG en x(n)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69480" y="4096512"/>
            <a:ext cx="434340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 la referencia trae EEG, el filtro lo resta.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Fuera de los parpadeos ρ ≈ 0: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HEO es una buena referencia.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Fp1/Fp2 quedan en 0.15–0.17: un poco de ojo o de EEG frontal. Lo retomamos al final.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· INSPECCIÓN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Hay ruido que no viene de los ojos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25091"/>
            <a:ext cx="5120640" cy="4373579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2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8243"/>
            <a:ext cx="4974336" cy="4227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1463040"/>
            <a:ext cx="585216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Correlación entre canales en 0.5–3 Hz,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solo fuera de los parpadeos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Todos los canales de EEG se parecen casi por completo: ρ = 0.83–0.96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incluso Fp1 con O1 o T7 con T8.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Eso es raro: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zonas del cerebro a ~20 cm no deberían parecerse tanto. Indica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una señal común que no viene del cerebro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y entra igual en todos los canales.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HEO, M1 y M2 no participan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(ρ ≈ 0).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promedio de los 51 canales buenos explica el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91 % de la potencia de Pz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Hipótesis: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 electrodo de referencia. Todos los canales se miden contra él, así que su ruido aparece idéntico en todos.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Para el filtro: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no está en HEO, así que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ningún filtro con esta referencia lo puede sacar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Va a quedar en e(n).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02 · INSPECCIÓN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decide la inspección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43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Decisión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Valor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Por qué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Deseada y(n)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Fp1, Fp2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λ ≈ 0.4: es donde más parpadeo hay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Control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Pz</a:t>
                      </a:r>
                      <a:endParaRPr lang="en-US" sz="14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λ ≈ 0.04: el filtro no debería cambiarlo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Referencia 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HEO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ρ = 0.9 con Fp1 en parpadeos, ≈ 0 fuera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Orden M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 (a verificar)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Sin retardo: casi una ganancia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Lo que no se puede sacar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Parte común lenta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 está en HEO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Sin EMG: el problema queda reducido a cancelar parpadeos con una sola referencia de EOG.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· PRIMERA CORRIDA · LAS SEÑALES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es cada señal en este capítulo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66751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Señal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En la cuenta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Qué es acá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deseada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Un canal medido: Fp1, Fp2 o Pz.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Tiene EEG + parpadeo mezclados. Lo que dice cada gráfico arriba ("Fp1", "Pz") es cuál canal es y(n).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[HEO(n), HEO(n−1), HEO(n−2)]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 referencia, siempre la misma: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el canal de EOG. Ve el parpadeo, casi no ve EEG.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ŷ(n)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wᵀ(n) 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 parpadeo que el filtro estima que llegó a ese canal.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No es el EEG: el filtro solo puede armar lo de y(n) que se parece a x(n).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y(n) − ŷ(n)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 EEG estimado de ese canal: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la salida que nos interesa.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01A2E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filtro por canal: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Fp1, Fp2 y Pz se procesan por separado, cada uno con su propio w(n), y los tres con la misma x(n). Pz es el control: casi no tiene parpadeo, así que e(n) debería quedar igual a y(n).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· PRIMERA CORRIDA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NLMS como en el design review: y, ŷ y e en el tiempo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7025"/>
            <a:ext cx="6583680" cy="4423990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4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50177"/>
            <a:ext cx="6437376" cy="4277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852160"/>
            <a:ext cx="6583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Metaparámetros de partida: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 = 3 · μ̃ = 0.03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(el elegido para el dataset anterior)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· δ = 10⁻³·M·P_x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(solo para no dividir por 0)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9480" y="1371600"/>
            <a:ext cx="4480560" cy="187452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137160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1444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Cómo leer el gráfico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1828800"/>
            <a:ext cx="27432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y(n)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lo que mide el electrodo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52360" y="2103120"/>
            <a:ext cx="274320" cy="5486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ŷ(n)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lo que el filtro va a restar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52360" y="2377440"/>
            <a:ext cx="274320" cy="54864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e(n) = y − ŷ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lo que queda (EEG estimado)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52360" y="2651760"/>
            <a:ext cx="274320" cy="5486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Rojo punteado: parpadeos marcados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69480" y="3383280"/>
            <a:ext cx="4480560" cy="24231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3383280"/>
            <a:ext cx="54864" cy="2423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3456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esperaríamos si anduviera bien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06640" y="3749040"/>
            <a:ext cx="4251960" cy="205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cada línea roja: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la naranja copia el pico de la azul, y la verde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tiene pico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Entre líneas rojas: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la naranja queda cerca de 0, y la verde encima de la azul (no hay nada que sacar).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Pz: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casi no hay parpadeo, así que la verde debería ser igual a la azul.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· PRIMERA CORRIDA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Parpadeo por parpadeo: el filtro resta cualquier cosa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05840"/>
                <a:gridCol w="1005840"/>
                <a:gridCol w="4023360"/>
                <a:gridCol w="100584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 [s]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Fp1: y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Fp1: ŷ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Fp1: e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Qué pasó en Fp1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Pz: y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Pz: e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43.5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249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−65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315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 lo saca: lo agranda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52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323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47.6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215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121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94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Saca la mitad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36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23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50.7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231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329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−99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Resta de más: pico negativo nuevo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−17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−31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54.9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257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−76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334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 lo saca: lo agranda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71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487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Valores en µV en el instante del pico de y (dentro de ±0.1 s de cada marca). Son los mismos puntos del gráfico anterior. Falta el de 52.3 s: ahí lo que se ve es la onda lenta común, no el parpadeo.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5486400" cy="22402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069080"/>
            <a:ext cx="54864" cy="2240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422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se 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434840"/>
            <a:ext cx="525780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Cada parpadeo sale distinto: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 veces lo agranda, a veces saca la mitad, a veces resta de más.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Pz el filtro inventa parpadeos: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pasa de 52 a 323 µV y de 71 a 487 µV.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Entre parpadeos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(52–55 s en el gráfico) la naranja oscila ±100 µV, y la verde hereda ese ruido.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4069080"/>
            <a:ext cx="5486400" cy="22402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4069080"/>
            <a:ext cx="54864" cy="2240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41422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implica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434840"/>
            <a:ext cx="525780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Cuánto resta depende de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dónde están los coeficientes cuando llega el parpadeo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ŷ = w₀x(n) + w₁x(n−1) + w₂x(n−2).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 el resultado es así de distinto en cada parpadeo,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los coeficientes tienen que estar cambiando todo el tiempo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Lo confirmamos en la diapositiva siguiente.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· PRIMERA CORRIDA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NLMS como en el design review: w(n) no converge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2057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Metaparámetros de partida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42900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 = 3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μ̃ = 0.03: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elegido para el dataset anterior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no para este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δ = 10⁻³·M·P_x: solo para no dividir por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8776"/>
            <a:ext cx="7498080" cy="2091647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0" descr="/tmp/claude-1000/-home-pedro-Documents-pasa-tps/c6b13180-8cb5-4ce6-b36f-44b56b40c212/scratchpad/deck/fig/c04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541928"/>
            <a:ext cx="7351776" cy="1945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794760"/>
            <a:ext cx="112471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Los coeficientes saltan entre −6 y +5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con w_o entre 0 y 0.32. Pasa durante los 336 s, no es un transitorio.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Pz también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aunque ahí w_o ≈ 0.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es un error de código.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Chequeo con h conocido y referencia blanca: w(N) = [0.776, −0.299, 0.12] contra [0.8, −0.3, 0.1].</a:t>
            </a:r>
            <a:endParaRPr lang="en-US" sz="14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Pero con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HEO real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como referencia y la misma h, tampoco llega: el spread de R es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2685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(en el dataset anterior, ~300).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03 · PRIMERA CORRIDA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promedio el parpadeo baja, pero se agrega ruido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330425" y="1371600"/>
            <a:ext cx="7500671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5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3577" y="1444752"/>
            <a:ext cx="7354367" cy="1956816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94560"/>
                <a:gridCol w="2103120"/>
                <a:gridCol w="164592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chico, μ̃ = 0.03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Pico parpadeo y → e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0.5–8 Hz con parp.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α sin parp.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RRMSE(e, y) sin parp.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203 → −36 µV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−0.3 dB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+1.8 dB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0.86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Pz (control)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23 → −15 µV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+13.9 dB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+1.6 dB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0.87</a:t>
                      </a:r>
                      <a:endParaRPr lang="en-US" sz="13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Gráfico: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promedio de los 75 parpadeos (±1 s). Azul y, naranja e.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Fp1 el pico baja, pero queda un pozo de −36 µV: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 promedio resta de más.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Ojo, el promedio engaña: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los parpadeos que agranda y los que resta de más (diapositiva anterior) se compensan entre sí.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Tabla: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potencia de e contra la de y, en dB (0 = no cambió; + = agregó).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Fuera de los parpadeos agrega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(+1.8 dB en α), y RRMSE(e, y) = 0.86 dice que e es muy distinta de y donde no había nada que sacar.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 energía de la referencia y el paso de cada algoritmo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90290"/>
            <a:ext cx="6949440" cy="380310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5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442"/>
            <a:ext cx="6803136" cy="36567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371600"/>
            <a:ext cx="4114800" cy="187452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1371600"/>
            <a:ext cx="54864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Cómo leer el gráfico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1737360"/>
            <a:ext cx="39319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60 s de grabación.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Escala logarítmica: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cada renglón de la grilla es ×10.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Arriba: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‖x(n)‖², la energía de las 3 muestras de HEO que entran al filtro.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Abajo: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 paso μ(n) de cada algoritmo. Rojo: parpadeos.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383280"/>
            <a:ext cx="4114800" cy="292608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5240" y="3383280"/>
            <a:ext cx="54864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3456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se 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3749040"/>
            <a:ext cx="3931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Arriba: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 cada línea roja, un pico de ~10⁶ µV². Entre parpadeos, ‖x‖² baja a 10–10⁴: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cien a cien mil veces menos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Abajo, azul (NLMS δ chico):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es la imagen espejada de arriba.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Paso grande entre parpadeos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(10⁻⁴–10⁻³) y mínimo justo en el parpadeo (~10⁻⁷).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Naranja (δ grande) y verde (LMS):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casi planos.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5349240"/>
            <a:ext cx="6949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δ chico, μ(n) = μ̃ / (‖x‖² + δ) ≈ μ̃ / ‖x‖²: si la energía baja 1000 veces, el paso sube 1000 veces.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 qué eso rompe el filtro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743200" cy="13716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52×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menos potencia de HEO fuera de los parpadeos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743200" cy="13716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&gt;2000×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813048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más grande el paso de NLMS (δ chico) entre parpadeos que en el pico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32918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 dónde salen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(no se leen del gráfico, se calcularon):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52×: potencia media de HEO en las ventanas de parpadeo (±0.5 s) contra el resto: 17 738 / 338 µV².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2000×: mediana de μ(n) fuera de los parpadeos contra en el pico: 8.7·10⁻⁵ / 3.8·10⁻⁸ ≈ 2300.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1463040"/>
            <a:ext cx="7589520" cy="484632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463040"/>
            <a:ext cx="54864" cy="4846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5361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 razonamiento, paso a paso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1828800"/>
            <a:ext cx="736092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El filtro tiene que aprender un solo número, en esencia: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qué fracción del parpadeo de HEO llega a Fp1 (λ ≈ 0.4).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Eso solo se puede aprender cuando hay parpadeo.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Entre parpadeos HEO casi no tiene nada, e(n) es casi todo EEG, y el EEG no tiene relación con HEO.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Para el filtro, ese EEG es ruido en el gradiente.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Cada paso es μ(n)·x(n)·e(n): si e(n) es EEG, el paso empuja a w en una dirección al azar.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NLMS con δ chico da sus pasos más grandes justo ahí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(gráfico anterior, azul abajo). Muchos pasos grandes al azar ⇒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w(n) salta de −6 a +5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5. Cuando llega el parpadeo, el filtro resta w·x con el w que haya quedado.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Por eso cada parpadeo sale distinto.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Contradice el design review: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elegimos NLMS porque "compensa los cambios de potencia de x(n)". Acá compensar es justamente el problema.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Cómo un δ grande hace de "llave"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solidFill>
            <a:srgbClr val="0E1628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Δw = μ(n) · x(n) · e(n)        μ(n) = μ̃ / (‖x(n)‖² + δ)        δ = 100·M·P_x ≈ 1.25·10⁶ µV²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10642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Ojo: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 δ grande el paso μ(n)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crece en los parpadeos. Lo que crece es la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corrección Δw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porque x(n) y e(n) son grandes. La llave está en x·e, no en μ. (Órdenes de magnitud con valores típicos de Fp1.)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4068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80360"/>
            <a:ext cx="54864" cy="2057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7180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Entre parpadeos: casi no se mueve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19272"/>
            <a:ext cx="52120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‖x‖² ≈ 10–10⁴ ≪ δ  ⇒  μ(n) ≈ μ̃/δ ≈ 2.4·10⁻⁷, fijo.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 ≈ 18 µV (HEO quieto), e ≈ 20 µV (EEG) ⇒ x·e ≈ 360.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Δw ≈ 10⁻⁴ por muestra: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los coeficientes quedan quietos.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544068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880360"/>
            <a:ext cx="54864" cy="2057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97180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 un parpadeo: aprende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319272"/>
            <a:ext cx="521208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‖x‖² ≈ 10⁶ ≈ δ  ⇒  μ(n) baja a la mitad, ~1.2·10⁻⁷.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 ≈ 500 µV, e ≈ 200 µV (el parpadeo que falta restar) ⇒ x·e ≈ 10⁵: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~280 veces más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Δw ≈ 10⁻² por muestra: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~100 veces más que entre parpadeos.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440680" cy="12344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074920"/>
            <a:ext cx="54864" cy="1234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663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 δ chico era al revés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513832"/>
            <a:ext cx="5166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μ(n) ≈ μ̃/‖x‖² ⇒ Δw ≈ μ̃·e/‖x‖: la normalización cancela x, y la corrección es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más grande cuanto más chico es x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o sea entre parpadeos, donde e es solo EEG.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5074920"/>
            <a:ext cx="5440680" cy="12344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5074920"/>
            <a:ext cx="54864" cy="1234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51663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5513832"/>
            <a:ext cx="5166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δ grande, entre parpadeos NLMS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 LMS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corrige proporcional a x. En un parpadeo enorme (HEO &gt; ~650 µV), ‖x‖² &gt; δ y normaliza: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diverge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Probamos tres variantes: solo cambiar δ estabiliza w(n)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32515" y="1371600"/>
            <a:ext cx="9096489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6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67" y="1444752"/>
            <a:ext cx="8950185" cy="23682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023360"/>
            <a:ext cx="54864" cy="2286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0965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Cómo leer el gráfico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389120"/>
            <a:ext cx="52578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panel por algoritmo, sobre Fp1, con el mismo μ̃ = 0.03 y la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misma escala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(−2 a 2).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Líneas llenas: los 3 coeficientes w₀, w₁, w₂ durante los 336 s.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Punteadas: los valores de Wiener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(el mejor filtro fijo): w₀ = 0.32 en azul; w₁ y w₂ ≈ 0.03, casi encima de 0.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 el filtro anda bien, cada línea llena se queda cerca de su punteada, con poco temblor.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4023360"/>
            <a:ext cx="5486400" cy="22860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4023360"/>
            <a:ext cx="54864" cy="2286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40965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se ve y qué implica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389120"/>
            <a:ext cx="52578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Izquierda (δ chico, la primera corrida):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se sale de la escala todo el tiempo.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Centro (δ = 10·M·P_x):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líneas casi rectas: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mismo algoritmo, solo cambió δ.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Confirma el diagnóstico: el problema eran los pasos grandes entre parpadeos.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Derecha (LMS):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se mueve más que el del centro, pero 4 veces menos que el de la izquierda.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Ninguno llega a cada punteada por separado (lo explicamos en el cap. 06).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w(n) estable, el filtro deja de agregar ruido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1600200"/>
                <a:gridCol w="1097280"/>
                <a:gridCol w="44805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Fp1, μ̃ = 0.03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chico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= 10·M·P_x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LMS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Qué mide (y qué queremos)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std de w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0.42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0.10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tiemblan los coeficientes (chico)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Parpadeo en e (en y: 203 µV)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−36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+26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+13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Pico del parpadeo promedio que queda (≈ 0)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0.5–8 Hz con parpadeo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−0.3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−11.9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−13.1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bajó la banda del parpadeo (muy negativo)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α sin parpadeo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+1.8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−0.9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−0.8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cambió el EEG que no hay que tocar (≈ 0)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RRMSE(e, y) sin parpadeo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0.86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0.37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difiere e de y donde no hay parpadeo (≈ 0)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69080"/>
            <a:ext cx="11247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Cuentas: dB = 10·log₁₀(P_e / P_y) en esa banda y esas muestras. RRMSE(e, y) = RMS(e − y) / RMS(y). "Sin parpadeo" = a más de 0.5 s de cualquier marca.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572000"/>
            <a:ext cx="5486400" cy="17373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572000"/>
            <a:ext cx="54864" cy="1737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6451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implica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937760"/>
            <a:ext cx="5257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δ grande, la banda del parpadeo baja 12 dB (16 veces menos potencia), y α ya no sube: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dejó de agregar ruido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Queda un resto de parpadeo (+26 µV). Falta elegir bien μ̃ y δ → cap. 05.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4572000"/>
            <a:ext cx="5486400" cy="17373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4572000"/>
            <a:ext cx="54864" cy="1737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46451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LMS diverge con μ̃ = 0.1 (no está en la tabla)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937760"/>
            <a:ext cx="5257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LMS es estable si μ·‖x(n)‖² &lt; 2. Con μ = μ̃ / tr R, eso es μ̃·‖x‖²/tr R &lt; 2.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el pico de un parpadeo, ‖x‖² ≈ 60·tr R ⇒ 0.1·60 = 6 &gt; 2: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explota en el primer parpadeo grande.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NLMS no puede: μ(n)·‖x‖² &lt; μ̃ siempre.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04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hace δ: NLMS como "LMS con seguro"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solidFill>
            <a:srgbClr val="0E1628"/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μ(n) = μ̃ / (‖x(n)‖² + δ)          con   δ = δ_rel · M · P_x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66160" cy="23774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54864" cy="2377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δ chico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07792"/>
            <a:ext cx="3337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μ(n) ≈ μ̃ / ‖x(n)‖²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Paso enorme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entre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parpadeos, mínimo en el pico.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Aprende cuando no hay información.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468880"/>
            <a:ext cx="3566160" cy="23774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468880"/>
            <a:ext cx="54864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Entre parpadeos, con δ grande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907792"/>
            <a:ext cx="3337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‖x‖² ≪ δ  ⇒  μ(n) ≈ μ̃ / δ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 LMS con paso fijo.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 que importa es el cociente μ̃/δ.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566160" cy="23774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468880"/>
            <a:ext cx="54864" cy="2377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5603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Parpadeo enorme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907792"/>
            <a:ext cx="333756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‖x‖² ≫ δ  ⇒  μ(n)·‖x(n)‖² → μ̃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Normaliza: estable para 0 &lt; μ̃ &lt; 2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 cualquier δ ≥ 0.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δ = 100·M·P_x actúa si HEO &gt; ~650 µV.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δ → ∞ NLMS es exactamente LMS con μ = μ̃/δ, y el seguro deja de actuar. Hay que elegir δ grande, pero no infinito: eso se mide en el cap. 05.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SEMI-SINTÉTICO · LAS SEÑALES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es cada señal en este capítulo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66751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Señal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En la cuenta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Qué es acá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s(n) + λ·(h ∗ η)(n)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Una mezcla que armamos nosotros: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EEG real de un canal de atrás + parpadeos de HEO de otro momento.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η(n) + ruido blanco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 referencia: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los mismos parpadeos de HEO que metimos en y, con ruido 20 dB abajo.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ŷ(n)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wᵀ(n) 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 estimación de λ·(h ∗ η):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el parpadeo que metimos.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y(n) − ŷ(n)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 estimación de s(n).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Acá s(n) es conocida: por eso podemos medir e − s.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01A2E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 diferencia con los datos reales: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 filtro ve una y(n) y una x(n) con las mismas propiedades que las reales, pero nosotros sabemos qué es EEG y qué es parpadeo.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SEMI-SINTÉTICO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algoritmo en sí mismo, con respuesta conocida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solidFill>
            <a:srgbClr val="2A1F0A">
              <a:alpha val="8000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107899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decimos que conocemos el EEG real: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eso no se puede. Armamos una mezcla con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pedazos de EEG real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de forma que nosotros sabemos la respuesta. Así evaluamos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algoritmo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si converge, a qué y con qué μ̃, δ y M. El filtro ve un y y un x con las mismas propiedades que los reales.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1206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Pieza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 dónde sale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Por qué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s(n), el "EEG"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 s de un canal con λ &lt; 0.06 (30 posibles), tramo A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EEG real: α, β y la parte común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η(n), el parpadeo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 s de HEO de un tramo B que no se superpone con A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Parpadeos reales, no relacionados con s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[1, 0.127, 0.078]: la forma del w_o de Wiener en Fp1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Camino parecido al real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λ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Ajustado para SNR = −1 dB, el medido en Fp1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Misma cantidad de parpadeo que Fp1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x(n)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η + ruido blanco 20 dB abajo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Ninguna referencia es exacta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y(n) = s(n) + λ·(h ∗ η)(n)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SEMI-SINTÉTICO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Una realización: qué recibe el filtro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68496"/>
            <a:ext cx="6400800" cy="3778208"/>
          </a:xfrm>
          <a:prstGeom prst="roundRect">
            <a:avLst>
              <a:gd name="adj" fmla="val 1452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7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1648"/>
            <a:ext cx="6254496" cy="3631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371600"/>
            <a:ext cx="4663440" cy="23774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86600" y="1371600"/>
            <a:ext cx="54864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4447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Cómo leer el gráfico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0" y="1737360"/>
            <a:ext cx="44805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Arriba, s(n):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 "EEG", 20 s de un canal de atrás (tramo A).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Medio, y(n):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la mezcla que ve el filtro.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2606040"/>
            <a:ext cx="274320" cy="5486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naranja: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y(n)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= s + parpadeo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2880360"/>
            <a:ext cx="27432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azul, de fondo: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s(n)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para comparar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22376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Abajo, x(n):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la referencia, HEO de otro tramo (B). Rosa: ventanas de parpadeo.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86600" y="3886200"/>
            <a:ext cx="4663440" cy="24231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0" y="3886200"/>
            <a:ext cx="54864" cy="2423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9480" y="39593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se ve y qué implica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23760" y="4251960"/>
            <a:ext cx="4480560" cy="205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Los picos de y (~250 µV) caen justo en las franjas rosas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donde x tiene sus parpadeos (~550 µV). Es la proporción de Fp1 (~200 contra ~485 µV).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Entre franjas, la naranja tapa a la azul: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y ≈ s.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 el mismo problema que en Fp1, pero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acá sabemos cuál es s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podemos medir e − 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SEMI-SINTÉTICO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Cómo medimos, en palabras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087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Monte Carlo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56232"/>
            <a:ext cx="10835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 repite con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 mezclas distintas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(otros tramos A y B, otro ruido) y se promedia. Las métricas se miden en la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segunda mitad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de cada mezcla, cuando el filtro ya aprendió.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577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Métrica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Cuenta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Cómo se lee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RRMSE(e, s)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RMS(e − s) / RMS(s)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le erra e al EEG verdadero. 0 = perfecto; 1 = error tan grande como el EEG. Sin filtrar (e = y): 1.30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CC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Correlación de Pearson entre e y 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Si la forma de onda se parece. 1 = idéntica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Error de coeficientes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E‖w(n) − w_o‖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Qué tan lejos está w del óptimo, en el tiempo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t_conv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Cuándo el error de coeficientes deja de bajar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tarda en aprender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Bias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‖E{w} − w_o‖ en la 2.ª mitad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Cuánto queda corrido del óptimo, en promedio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Error de cancelación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E|e(n) − s(n)|²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 curva de aprendizaje. J(n) = E|e|² no sirve: la tapa la potencia del EEG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ELECCIÓN DE Μ̃ Y 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 grilla: 5 valores de δ × 7 de μ̃, más LMS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7545"/>
            <a:ext cx="5760720" cy="3651471"/>
          </a:xfrm>
          <a:prstGeom prst="roundRect">
            <a:avLst>
              <a:gd name="adj" fmla="val 1503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7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30697"/>
            <a:ext cx="5614416" cy="3505167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17320"/>
          <a:ext cx="52120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Fila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Mejor μ̃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= 0.001·M·P_x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0.001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= 0.1·M·P_x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0.001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0.62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= 1·M·P_x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0.51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= 10·M·P_x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0.03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0.27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= 100·M·P_x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LMS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0.001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0.20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92240" y="3840480"/>
            <a:ext cx="521208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Más δ, mejor.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δ chico no sirve con ningún μ̃.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Hay una diagonal: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 δ grande manda μ̃/δ (≈ 3·10⁻³ en el óptimo).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LMS es apenas mejor, pero diverge desde μ̃ = 0.03: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solo un factor 30 entre su óptimo y la divergencia.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Elegido: δ = 100·M·P_x, μ̃ = 0.3.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RRMSE 0.22, no diverge en toda la grilla.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Cada casilla es un Monte Carlo de 30 realizaciones. Color: RRMSE(e, s), más claro es mejor.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CONVERGENCIA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Curva de aprendizaje, desajuste y bias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49777" y="1371600"/>
            <a:ext cx="8061965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7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929" y="1444752"/>
            <a:ext cx="7915661" cy="2505456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1645920"/>
                <a:gridCol w="914400"/>
                <a:gridCol w="1554480"/>
                <a:gridCol w="10972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RRMSE(e, s)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 sin parp.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CC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t_conv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Bias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Desajuste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chico (μ̃ 0.03)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1.25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0.77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0.51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 converge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0.12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55 %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LMS (μ̃ 0.001)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0.20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0.10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0.97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8.7 s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0.10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−11 %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Elegido (δ 100, μ̃ 0.3)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0.22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0.12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0.97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5.9 s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0.09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−13 %</a:t>
                      </a:r>
                      <a:endParaRPr lang="en-US" sz="12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LMS y el elegido llegan a lo que deja Wiener en ~10–12 s;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elegido converge más rápido.</a:t>
            </a:r>
            <a:endParaRPr lang="en-US" sz="12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desajuste negativo no es real:</a:t>
            </a:r>
            <a:pPr indent="0" marL="0">
              <a:buNone/>
            </a:pPr>
            <a:r>
              <a:rPr lang="en-US" sz="12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un filtro variante aprovecha correlaciones de casualidad entre s y x en ventanas cortas. Por eso manda RRMSE.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ELECCIÓN DE 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Barrido de M = 1, 2, 3, 5 y 8 con el filtro elegido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3749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343400" y="1417320"/>
          <a:ext cx="3749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8321040" y="1463040"/>
            <a:ext cx="347472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 1 a 5 casi no cambia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(0.22–0.25);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8 empeora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(0.31).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spread crece con M: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cada coeficiente más es un modo lento más (τ_k ≈ 1/(μλ_k)), y hay 20 s para aprender.</a:t>
            </a:r>
            <a:endParaRPr lang="en-US" sz="13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 = 1 anda casi igual:</a:t>
            </a:r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confirma que el camino es una ganancia (lag 0 en la inspección).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4663440"/>
            <a:ext cx="11247120" cy="1143000"/>
          </a:xfrm>
          <a:prstGeom prst="rect">
            <a:avLst/>
          </a:prstGeom>
          <a:solidFill>
            <a:srgbClr val="101A2E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4709160"/>
            <a:ext cx="108813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Elegimos M = 3:</a:t>
            </a:r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empata con M = 2 como el mejor, coincide con He et al. (2004) y deja comparar con el notebook anterior. t_conv: 6.5 s (M = 1), 5.9 s (M = 3), 8.8 s (M = 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05 · ROBUSTEZ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¿Y con más o menos parpadeo? Barrido de SNR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94041"/>
            <a:ext cx="6400800" cy="3235679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8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67193"/>
            <a:ext cx="6254496" cy="3089375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"/>
                <a:gridCol w="603504"/>
                <a:gridCol w="603504"/>
                <a:gridCol w="603504"/>
                <a:gridCol w="60350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SNR [dB]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−10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−5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+5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+10</a:t>
                      </a:r>
                      <a:endParaRPr lang="en-US" sz="10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Sin filtrar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3.7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2.1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0.65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0.37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chico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1.28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1.25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1.25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1.24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1.24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LMS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0.43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0.27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0.19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0.16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0.14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Elegido</a:t>
                      </a:r>
                      <a:endParaRPr lang="en-US" sz="11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0.36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0.26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0.22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0.20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0.19</a:t>
                      </a:r>
                      <a:endParaRPr lang="en-US" sz="11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132320" y="3429000"/>
            <a:ext cx="45720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δ chico queda en ~1.25 siempre: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 SNR ≥ 0 dB es peor que no filtrar.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elegido gana con mucho parpadeo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(−10 dB); LMS, con poco. Con mucho parpadeo el seguro actúa más seguido.</a:t>
            </a:r>
            <a:endParaRPr lang="en-US" sz="12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2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Piso ~0.14–0.19:</a:t>
            </a:r>
            <a:pPr indent="0" marL="0">
              <a:buNone/>
            </a:pPr>
            <a:r>
              <a:rPr lang="en-US" sz="12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 ruido de la referencia y el bias de los coeficientes.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· DATOS REALES · LAS SEÑALES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es cada señal en este capítulo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66751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Señal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En la cuenta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Qué es acá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deseada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 nuevo los canales medidos: Fp1, Fp2 y Pz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, cada uno por separado. En los gráficos, "Fp1" o "Pz" dice cuál es y(n), y la curva gris es y(n).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[HEO(n), HEO(n−1), HEO(n−2)]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 misma referencia que en el cap. 03.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ŷ(n)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wᵀ(n) x(n)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 parpadeo estimado en ese canal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, con cada uno de los cuatro filtros.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y(n) − ŷ(n)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 EEG estimado.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 Las curvas de colores son e(n) de cada filtro.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01A2E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Comparamos cuatro filtros sobre las mismas y(n) y x(n):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NLMS δ chico (cap. 03), LMS, el elegido (cap. 05) y Wiener estimado, con w_o = R̂⁻¹p̂ fijo: e = y − w_oᵀx.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· DATOS REALES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Sobre la grabación cruda, el elegido hace lo que Wiener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19371" y="1371600"/>
            <a:ext cx="712277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9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523" y="1444752"/>
            <a:ext cx="6976474" cy="1956816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75895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09728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NLMS δ chico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LMS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Elegido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Wiener estimado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Parpadeo en e (en y: 203 µV)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−36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+25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+22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+12 µV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0.5–8 Hz con parpadeo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−0.3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−13.2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−13.0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−14.2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α sin parpadeo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+1.8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−1.0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−1.0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−1.0 dB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RRMSE(e, y) sin parpadeo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0.86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ρ(e, x)</a:t>
                      </a:r>
                      <a:endParaRPr lang="en-US" sz="12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−0.13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0.02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0.01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0.00</a:t>
                      </a:r>
                      <a:endParaRPr lang="en-US" sz="12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229600" y="361188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Pico: 203 → 22 µV (−19 dB)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 Fp1.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Pz casi no cambia: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RRMSE 0.07, α −0.03 dB.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Wiener estimado: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w_o = R̂⁻¹p̂, con R y p promediados sobre los 336 s. Es el mejor filtro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fijo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para esta grabación, y usa toda la grabación (también el futuro):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una referencia, no un filtro que se pueda usar en línea.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· DATOS REALES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Los coeficientes: converge la suma, no cada uno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37258" y="1371600"/>
            <a:ext cx="7887005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9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410" y="1444752"/>
            <a:ext cx="7740701" cy="2048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703320"/>
            <a:ext cx="112471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 mueven poco: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 Fp1, entre 0 y 0.3 (en la primera corrida, entre −6 y +5).</a:t>
            </a:r>
            <a:endParaRPr lang="en-US" sz="13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llegan a cada w_o, pero sí a su suma: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w ≈ [0.20, 0.13, 0.05] contra w_o = [0.32, 0.04, 0.025]. Sumados,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0.38 contra 0.39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3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Es el spread (2685):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HEO(n), HEO(n−1) y HEO(n−2) son casi iguales.</a:t>
            </a:r>
            <a:endParaRPr lang="en-US" sz="13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   – 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Autovalor grande (12 476) → autovector ≈ [1, 1, 1]/√3: la suma, la ganancia. Modo rápido.</a:t>
            </a:r>
            <a:endParaRPr lang="en-US" sz="135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     – 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Autovalores 58 y 4.6 → las diferencias entre coeficientes. 200 a 2700 veces más lentos: no llegan en 336 s.</a:t>
            </a:r>
            <a:endParaRPr lang="en-US" sz="13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3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Para limpiar casi no importa:</a:t>
            </a:r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con una entrada lenta lo que cuenta es la ganancia.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· DATOS REALES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mismo tramo de la primera corrida, con el filtro elegido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90737" y="1371600"/>
            <a:ext cx="5567965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09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889" y="1444752"/>
            <a:ext cx="5421661" cy="3602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303520"/>
            <a:ext cx="274320" cy="5486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gris: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y(n)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lo medido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577840"/>
            <a:ext cx="27432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4864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azul: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e(n)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de la primera corrida (δ chico)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52160"/>
            <a:ext cx="274320" cy="5486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57607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naranja: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e(n)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del elegido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6126480"/>
            <a:ext cx="274320" cy="5486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60350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rojo punteado: parpadeos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417320"/>
          <a:ext cx="50292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777240"/>
                <a:gridCol w="777240"/>
                <a:gridCol w="64008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 [s]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Fp1: y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 δ chico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 elegido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Pz: y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 δ chico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 elegido</a:t>
                      </a:r>
                      <a:endParaRPr lang="en-US" sz="10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43.5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249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315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19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52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323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61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47.6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215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94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15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36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23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16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50.7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231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−99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−26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−17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−31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−18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54.9</a:t>
                      </a:r>
                      <a:endParaRPr lang="en-US" sz="11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257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334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−2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71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487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7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21</a:t>
                      </a:r>
                      <a:endParaRPr lang="en-US" sz="110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72084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µV en el pico de y de cada parpadeo (mismos puntos que en la primera corrida).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20840" y="3474720"/>
            <a:ext cx="5029200" cy="28346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20840" y="3474720"/>
            <a:ext cx="54864" cy="2834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0372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se ve y qué implica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858000" y="3840480"/>
            <a:ext cx="484632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Ahora cada parpadeo se va, uno por uno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no solo en promedio: en Fp1 quedan entre −26 y +19 µV, de ~250.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Entre parpadeos, la naranja va encima de la gris: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ya no agrega las oscilaciones de la azul (52–55 s).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Pz, la naranja es casi la gris: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desaparecen los picos de +323 y +487 µV que inventaba la azul.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Las ondas lentas siguen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(p. ej. 52–53 s): son la parte común, no están en HEO.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06 · DATOS REALES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Qué frecuencias saca el filtro elegido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45389" y="1371600"/>
            <a:ext cx="8070741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tmp/claude-1000/-home-pedro-Documents-pasa-tps/c6b13180-8cb5-4ce6-b36f-44b56b40c212/scratchpad/deck/fig/c10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541" y="1444752"/>
            <a:ext cx="7924437" cy="2505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160520"/>
            <a:ext cx="3657600" cy="21488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4160520"/>
            <a:ext cx="54864" cy="21488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2336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Cómo leer el gráfico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4526280"/>
            <a:ext cx="342900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PSD: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cuánta potencia hay en cada frecuencia. Escala log: cada renglón ×10.</a:t>
            </a:r>
            <a:endParaRPr lang="en-US" sz="11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Gris: y. Azul: e con δ chico. Naranja: e del elegido. Negra punteada: e de Wiener.</a:t>
            </a:r>
            <a:endParaRPr lang="en-US" sz="11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Naranja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debajo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de gris = el filtro sacó esa frecuencia.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4160520"/>
            <a:ext cx="7406640" cy="214884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4160520"/>
            <a:ext cx="54864" cy="2148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42336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Qué se ve y qué implica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4840" y="4526280"/>
            <a:ext cx="71780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Fp1, de 1 a 10 Hz: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la naranja queda muy por debajo de la gris (en 5 Hz, ~40 contra ~2.5: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más de 10 veces menos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). Es la banda del parpadeo.</a:t>
            </a:r>
            <a:endParaRPr lang="en-US" sz="11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Fp1, arriba de ~12 Hz: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naranja sobre gris.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toca β ni γ.</a:t>
            </a:r>
            <a:endParaRPr lang="en-US" sz="11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Pz: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naranja y gris coinciden en todo el rango (la gris queda tapada): no había nada que sacar.</a:t>
            </a:r>
            <a:endParaRPr lang="en-US" sz="11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 naranja va casi pegada a la negra punteada: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el adaptativo hace lo mismo que el mejor filtro fijo.</a:t>
            </a:r>
            <a:endParaRPr lang="en-US" sz="110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0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 azul queda por encima de la gris en casi todo el rango:</a:t>
            </a:r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la primera corrida agregaba ruido en todas las frecuencias.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 · 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Sobre datos crudos, el filtro adaptativo saca el parpadeo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13716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−19 dB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pico del parpadeo en Fp1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(203 → 22 µV)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Pico del parpadeo promedio, tabla del cap. 06: 20·log₁₀(22/203) = −19 dB.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≈ Wiener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25856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en todas las pruebas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sobre datos reales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Misma tabla: −13.0 vs −14.2 dB, α −1.0 dB en los dos, RRMSE 0.31 vs 0.32. PSD: naranja sobre la negra.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51760" cy="13716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0.07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258568"/>
            <a:ext cx="2468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RRMSE(e, y) en Pz: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control queda intacto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RMS(e − y)/RMS(y) en Pz, fuera de los parpadeos. Con δ chico daba 0.87.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52560" y="1463040"/>
            <a:ext cx="2560320" cy="13716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5544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0.22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0" y="225856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RRMSE(e, s) semi-sintético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(sin filtrar: 1.30)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5256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Casilla δ = 100, μ̃ = 0.3 de la grilla del cap. 05 (30 mezclas).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5486400" cy="26517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57600"/>
            <a:ext cx="54864" cy="26517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4904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Pero no como lo planteamos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096512"/>
            <a:ext cx="525780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 δ chico, NLMS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mete más ruido del que saca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: cada parpadeo sale distinto, a Pz le inventa picos de ~490 µV y α sube 1.8 dB (cap. 03).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 qué: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HEO tiene 52 veces menos potencia entre parpadeos, y ahí NLMS da pasos 2000 veces más grandes (cap. 04).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 hipótesis del design review ("NLMS compensa la potencia de x")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 se cumplió, y sabemos por qué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657600"/>
            <a:ext cx="5394960" cy="265176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657600"/>
            <a:ext cx="54864" cy="2651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7490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 que funcionó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096512"/>
            <a:ext cx="516636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NLMS con δ grande: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entre parpadeos μ(n) ≈ μ̃/δ, como LMS; en un parpadeo enorme normaliza y no diverge.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Evidencia: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w(n) deja de saltar (std 0.42 → 0.02), RRMSE 0.22 contra 0.20 del mejor LMS, y LMS diverge con μ̃ 30 veces más grande (caps. 04 y 05).</a:t>
            </a:r>
            <a:endParaRPr lang="en-US" sz="1150" dirty="0"/>
          </a:p>
          <a:p>
            <a:pPr indent="0" marL="0">
              <a:spcBef>
                <a:spcPts val="700"/>
              </a:spcBef>
              <a:buNone/>
            </a:pPr>
            <a:r>
              <a:rPr lang="en-US" sz="1150" dirty="0">
                <a:solidFill>
                  <a:srgbClr val="22D3E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▸  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argumento a favor de NLMS pasa a ser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"un LMS con estabilidad garantizada"</a:t>
            </a:r>
            <a:pPr indent="0" marL="0">
              <a:buNone/>
            </a:pPr>
            <a:r>
              <a:rPr lang="en-US" sz="11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 · 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Los parámetros del filtro y de dónde salió cada uno</a:t>
            </a:r>
            <a:endParaRPr lang="en-US" sz="2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713232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Parámetro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Valor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2D3EE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Cómo se eligió</a:t>
                      </a:r>
                      <a:endParaRPr lang="en-US" sz="12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Referencia x(n)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BBF24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HEO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Único EOG. ρ = 0.9 con Fp1 en parpadeos, ≈ 0 fuera (cap. 02)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Orden M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3</a:t>
                      </a:r>
                      <a:endParaRPr lang="en-US" sz="13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Lag 0 (cap. 02). Barrido 1–8: de 1 a 5 casi igual, 8 peor; el spread crece con M (cap. 05)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δ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100·M·P_x</a:t>
                      </a:r>
                      <a:endParaRPr lang="en-US" sz="13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Paso chico entre parpadeos (cap. 04); el mejor de la grilla (cap. 05)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μ̃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0.3</a:t>
                      </a:r>
                      <a:endParaRPr lang="en-US" sz="13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Óptimo de la fila δ = 100 en la grilla; estable para todo μ̃ &lt; 2 (cap. 05)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w(0)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BBF24"/>
                          </a:solidFill>
                          <a:latin typeface="DejaVu Sans Mono" pitchFamily="34" charset="0"/>
                          <a:ea typeface="DejaVu Sans Mono" pitchFamily="34" charset="-122"/>
                          <a:cs typeface="DejaVu Sans Mono" pitchFamily="34" charset="-120"/>
                        </a:rPr>
                        <a:t>0</a:t>
                      </a:r>
                      <a:endParaRPr lang="en-US" sz="1350" dirty="0">
                        <a:latin typeface="DejaVu Sans Mono" charset="0"/>
                        <a:ea typeface="DejaVu Sans Mono" charset="0"/>
                        <a:cs typeface="DejaVu Sans Mono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6EDF7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Como en el design review; converge en ~6 s</a:t>
                      </a:r>
                      <a:endParaRPr lang="en-US" sz="13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El μ̃ = 0.03 del dataset anterior no servía acá: los metaparámetros dependen de cómo es la referencia, no solo del algoritmo.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9144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07 · 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 que queda abierto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057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α baja 1 dB en Fp1/Fp2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51663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Wiener hace lo mismo: viene de los datos. Puede ser EEG frontal que ve HEO (fuga) o movimientos chicos de ojos. Sin ground truth no se separa.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463040"/>
            <a:ext cx="54864" cy="2057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5448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Bias de los coeficientes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901952"/>
            <a:ext cx="51663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 el spread (2685): converge la ganancia, no cada coeficiente. Casi no afecta la limpieza.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03320"/>
            <a:ext cx="54864" cy="20574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Parte común lenta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42232"/>
            <a:ext cx="51663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0.5–3 Hz en todos los canales, no en HEO. Ningún filtro con esta referencia la saca.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5440680" cy="2057400"/>
          </a:xfrm>
          <a:prstGeom prst="rect">
            <a:avLst/>
          </a:prstGeom>
          <a:solidFill>
            <a:srgbClr val="101A2E">
              <a:alpha val="92000"/>
            </a:srgbClr>
          </a:solidFill>
          <a:ln w="12700">
            <a:solidFill>
              <a:srgbClr val="1F3B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703320"/>
            <a:ext cx="54864" cy="20574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7947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Alcance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142232"/>
            <a:ext cx="51663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 sujeto, una sesión, sin EMG. HEO probablemente es el EOG vertical mal etiquetado.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Denoising de EEG con NLMS: resultados sobre parpadeos reales</dc:title>
  <dc:subject>PptxGenJS Presentation</dc:subject>
  <dc:creator>Pedro Stefoni Rey Iraola, Vito Pensa Piccolo, Javier Pérez Baltasar Loasada</dc:creator>
  <cp:lastModifiedBy>Pedro Stefoni Rey Iraola, Vito Pensa Piccolo, Javier Pérez Baltasar Loasada</cp:lastModifiedBy>
  <cp:revision>1</cp:revision>
  <dcterms:created xsi:type="dcterms:W3CDTF">2026-10-21T21:08:10Z</dcterms:created>
  <dcterms:modified xsi:type="dcterms:W3CDTF">2026-10-21T21:08:10Z</dcterms:modified>
</cp:coreProperties>
</file>