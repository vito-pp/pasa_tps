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1" d="100"/>
          <a:sy n="51" d="100"/>
        </p:scale>
        <p:origin x="869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E6EDF7"/>
                </a:solidFill>
                <a:latin typeface="DejaVu Sans"/>
              </a:defRPr>
            </a:pPr>
            <a:r>
              <a:rPr sz="1300" b="0" i="0" u="none" strike="noStrike">
                <a:solidFill>
                  <a:srgbClr val="E6EDF7"/>
                </a:solidFill>
                <a:latin typeface="DejaVu Sans"/>
              </a:rPr>
              <a:t>RRMSE(e, s): menor es mejor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RRMSE(e, s)</c:v>
                </c:pt>
              </c:strCache>
            </c:strRef>
          </c:tx>
          <c:spPr>
            <a:solidFill>
              <a:srgbClr val="22D3EE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E6EDF7"/>
                    </a:solidFill>
                    <a:latin typeface="DejaVu Sans Mono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8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0.23599999999999999</c:v>
                </c:pt>
                <c:pt idx="1">
                  <c:v>0.217</c:v>
                </c:pt>
                <c:pt idx="2">
                  <c:v>0.221</c:v>
                </c:pt>
                <c:pt idx="3">
                  <c:v>0.252</c:v>
                </c:pt>
                <c:pt idx="4">
                  <c:v>0.30499999999999999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D30-445A-BED9-F844690D0FB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94A3B8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94A3B8"/>
                    </a:solidFill>
                    <a:latin typeface="Arial"/>
                  </a:rPr>
                  <a:t>M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3B8"/>
                </a:solidFill>
                <a:latin typeface="DejaVu Sans Mono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35"/>
          <c:min val="0"/>
        </c:scaling>
        <c:delete val="0"/>
        <c:axPos val="l"/>
        <c:majorGridlines>
          <c:spPr>
            <a:ln w="6350" cap="flat">
              <a:solidFill>
                <a:srgbClr val="1F3B5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DejaVu Sans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01A2E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E6EDF7"/>
                </a:solidFill>
                <a:latin typeface="DejaVu Sans"/>
              </a:defRPr>
            </a:pPr>
            <a:r>
              <a:rPr sz="1300" b="0" i="0" u="none" strike="noStrike">
                <a:solidFill>
                  <a:srgbClr val="E6EDF7"/>
                </a:solidFill>
                <a:latin typeface="DejaVu Sans"/>
              </a:rPr>
              <a:t>Spread λmax/λmin de R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Spread</c:v>
                </c:pt>
              </c:strCache>
            </c:strRef>
          </c:tx>
          <c:spPr>
            <a:solidFill>
              <a:srgbClr val="FBBF24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E6EDF7"/>
                    </a:solidFill>
                    <a:latin typeface="DejaVu Sans Mono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8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147</c:v>
                </c:pt>
                <c:pt idx="2">
                  <c:v>284</c:v>
                </c:pt>
                <c:pt idx="3">
                  <c:v>489</c:v>
                </c:pt>
                <c:pt idx="4">
                  <c:v>792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A2-43EB-86E7-01ABA47A443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94A3B8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94A3B8"/>
                    </a:solidFill>
                    <a:latin typeface="Arial"/>
                  </a:rPr>
                  <a:t>M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3B8"/>
                </a:solidFill>
                <a:latin typeface="DejaVu Sans Mono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0"/>
          <c:min val="0"/>
        </c:scaling>
        <c:delete val="0"/>
        <c:axPos val="l"/>
        <c:majorGridlines>
          <c:spPr>
            <a:ln w="6350" cap="flat">
              <a:solidFill>
                <a:srgbClr val="1F3B5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DejaVu Sans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01A2E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06286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I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22.46 · PASA · Proyecto 1 · Resultados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22.46 · PROCESAMIENTO ADAPTATIVO DE SEÑALES ALEATORIAS · PROYECTO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Denoising de EEG con NLMS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3774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Sacar parpadeos reales con una referencia de EOG: qué falló, por qué, y cómo elegimos μ̃, δ y 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Pedro Stefoni Rey Iraola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Vito Pensa Piccolo</a:t>
            </a:r>
            <a:endParaRPr lang="en-US" sz="1400" dirty="0"/>
          </a:p>
          <a:p>
            <a:pPr marL="0" indent="0">
              <a:buNone/>
            </a:pPr>
            <a:r>
              <a:rPr lang="en-US" sz="140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Javier Pérez Losada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RESULTADOS · OCTUBRE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00 · DE DÓNDE PARTIMOS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Cancelación adaptativa de ruido, con una sola referencia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2377440" cy="1097280"/>
          </a:xfrm>
          <a:prstGeom prst="rect">
            <a:avLst/>
          </a:prstGeom>
          <a:solidFill>
            <a:srgbClr val="101A2E"/>
          </a:solidFill>
          <a:ln w="1905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2377440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x(n)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Referencia: canal HEO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[HEO(n), HEO(n−1), HEO(n−2)]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749040" y="2834640"/>
            <a:ext cx="2560320" cy="1097280"/>
          </a:xfrm>
          <a:prstGeom prst="rect">
            <a:avLst/>
          </a:prstGeom>
          <a:solidFill>
            <a:srgbClr val="101A2E"/>
          </a:solidFill>
          <a:ln w="1905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749040" y="2834640"/>
            <a:ext cx="2560320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w(n)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FIR de M = 3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se ajusta con NLMS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0" y="1234440"/>
            <a:ext cx="2560320" cy="960120"/>
          </a:xfrm>
          <a:prstGeom prst="rect">
            <a:avLst/>
          </a:prstGeom>
          <a:solidFill>
            <a:srgbClr val="101A2E"/>
          </a:solidFill>
          <a:ln w="1905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0" y="1234440"/>
            <a:ext cx="2560320" cy="960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y(n)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Electrodo (Fp1, Fp2, Pz)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y = s + λ·η_EOG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0" y="3017520"/>
            <a:ext cx="731520" cy="731520"/>
          </a:xfrm>
          <a:prstGeom prst="ellipse">
            <a:avLst/>
          </a:prstGeom>
          <a:solidFill>
            <a:srgbClr val="101A2E"/>
          </a:solidFill>
          <a:ln w="1905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315200" y="30175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Σ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9144000" y="2834640"/>
            <a:ext cx="2468880" cy="1097280"/>
          </a:xfrm>
          <a:prstGeom prst="rect">
            <a:avLst/>
          </a:prstGeom>
          <a:solidFill>
            <a:srgbClr val="101A2E"/>
          </a:solidFill>
          <a:ln w="1905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144000" y="2834640"/>
            <a:ext cx="2468880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BBF2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e(n) ≈ s(n)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Salida: el EEG estimado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926080" y="3383280"/>
            <a:ext cx="822960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309360" y="3383280"/>
            <a:ext cx="1005840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680960" y="2194560"/>
            <a:ext cx="0" cy="82296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046720" y="3383280"/>
            <a:ext cx="1097280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0" y="29718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6ED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ŷ(n)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040880" y="342900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87171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−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772400" y="26060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DE8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+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595360" y="3383280"/>
            <a:ext cx="0" cy="1051560"/>
          </a:xfrm>
          <a:prstGeom prst="line">
            <a:avLst/>
          </a:prstGeom>
          <a:noFill/>
          <a:ln w="254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0" y="4434840"/>
            <a:ext cx="3566160" cy="0"/>
          </a:xfrm>
          <a:prstGeom prst="line">
            <a:avLst/>
          </a:prstGeom>
          <a:noFill/>
          <a:ln w="254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 flipV="1">
            <a:off x="5029200" y="3931920"/>
            <a:ext cx="0" cy="502920"/>
          </a:xfrm>
          <a:prstGeom prst="line">
            <a:avLst/>
          </a:prstGeom>
          <a:noFill/>
          <a:ln w="25400">
            <a:solidFill>
              <a:srgbClr val="FBBF24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86400" y="4480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BBF2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e(n) ajusta w(n)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5074920"/>
            <a:ext cx="11064240" cy="731520"/>
          </a:xfrm>
          <a:prstGeom prst="rect">
            <a:avLst/>
          </a:prstGeom>
          <a:solidFill>
            <a:srgbClr val="0E1628"/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48640" y="50749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6ED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e(n) = y(n) − wᵀ(n)x(n)</a:t>
            </a:r>
            <a:r>
              <a:rPr lang="en-US" sz="1600" dirty="0">
                <a:solidFill>
                  <a:srgbClr val="64748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  ·      </a:t>
            </a:r>
            <a:r>
              <a:rPr lang="en-US" sz="16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w(n+1) = w(n) + μ̃ · x(n)e(n) / (‖x(n)‖² + δ)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57200" y="5897880"/>
            <a:ext cx="1124712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El EEG s(n) no está en la referencia: el filtro solo puede armar la parte de y(n) correlacionada con x(n). Lo que sobra, e(n), es el EEG.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1371600"/>
            <a:ext cx="56692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Lo mismo que en el design review, pero ahora con parpadeos </a:t>
            </a:r>
            <a:r>
              <a:rPr lang="en-US" sz="15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reales</a:t>
            </a:r>
            <a:r>
              <a:rPr lang="en-US" sz="15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y sin canal de EMG.</a:t>
            </a:r>
            <a:endParaRPr lang="en-US" sz="15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ÍNDICE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Capítulos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394960" cy="91440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15544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45920" y="15544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El dataset</a:t>
            </a:r>
            <a:endParaRPr lang="en-US" sz="17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Eye-BCI: EEG con parpadeos crudos y marcados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2651760"/>
            <a:ext cx="5394960" cy="91440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85800" y="26517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645920" y="265176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Inspección</a:t>
            </a:r>
            <a:endParaRPr lang="en-US" sz="17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Qué hay en las señales y qué decide del filtro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749040"/>
            <a:ext cx="5394960" cy="91440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85800" y="3749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645920" y="37490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Primera corrida</a:t>
            </a:r>
            <a:endParaRPr lang="en-US" sz="17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NLMS como lo planteamos en el design review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85800" y="48463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04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645920" y="48463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Diagnóstico</a:t>
            </a:r>
            <a:endParaRPr lang="en-US" sz="17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Por qué fallaron los coeficientes: el rol de δ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217920" y="1554480"/>
            <a:ext cx="5394960" cy="91440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355080" y="15544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05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7315200" y="15544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Semi-sintético</a:t>
            </a:r>
            <a:endParaRPr lang="en-US" sz="17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Elegir μ̃, δ y M con una respuesta conocida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217920" y="2651760"/>
            <a:ext cx="5394960" cy="91440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355080" y="26517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06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315200" y="265176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Datos reales</a:t>
            </a:r>
            <a:endParaRPr lang="en-US" sz="17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El filtro elegido contra Wiener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6217920" y="3749040"/>
            <a:ext cx="5394960" cy="91440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355080" y="3749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07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7315200" y="37490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Conclusiones</a:t>
            </a:r>
            <a:endParaRPr lang="en-US" sz="17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Qué funcionó, qué no y qué queda abierto</a:t>
            </a:r>
            <a:endParaRPr lang="en-US" sz="17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01 · EL DATASET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Eye-BCI: parpadeos reales, marcados uno por uno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760720" cy="201168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864" cy="201168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155448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87171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Por qué cambiamos de dataset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1901952"/>
            <a:ext cx="5532120" cy="1508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2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En ds008701 el EEG venía </a:t>
            </a:r>
            <a:r>
              <a:rPr lang="en-US" sz="12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preprocesado: le habían sacado los parpadeos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.</a:t>
            </a:r>
            <a:endParaRPr lang="en-US" sz="12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2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Quedaba poco ruido de ojos para cancelar y no podíamos ver si el filtro servía.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611880"/>
            <a:ext cx="5760720" cy="219456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48640" y="3611880"/>
            <a:ext cx="54864" cy="219456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31520" y="37033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Qué es Eye-BCI (sujeto 1, sesión 1)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85800" y="4050792"/>
            <a:ext cx="5532120" cy="1691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2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Tarea de </a:t>
            </a:r>
            <a:r>
              <a:rPr lang="en-US" sz="12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ejecución motora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: fijación, mover la mano izquierda o derecha, descanso. 40 repeticiones.</a:t>
            </a:r>
            <a:endParaRPr lang="en-US" sz="12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2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62 canales de EEG + mastoides M1/M2 + </a:t>
            </a:r>
            <a:r>
              <a:rPr lang="en-US" sz="12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un solo EOG (HEO)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. Sin EMG.</a:t>
            </a:r>
            <a:endParaRPr lang="en-US" sz="12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2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Columna </a:t>
            </a:r>
            <a:r>
              <a:rPr lang="en-US" sz="12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Blinks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: el pico de cada parpadeo, marcado por los autores.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583680" y="1463040"/>
            <a:ext cx="2468880" cy="132588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583680" y="1554480"/>
            <a:ext cx="246888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75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2232050"/>
            <a:ext cx="228600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parpadeos en 336 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(13.4 por minuto)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235440" y="1463040"/>
            <a:ext cx="2377440" cy="132588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235440" y="1554480"/>
            <a:ext cx="237744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51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326880" y="2232050"/>
            <a:ext cx="219456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canales de EEG buenos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(11 puenteados, afuera)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583680" y="2926080"/>
            <a:ext cx="2468880" cy="132588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583680" y="3017520"/>
            <a:ext cx="246888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250 Hz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675120" y="3695090"/>
            <a:ext cx="228600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después de submuestrear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(de 1000 Hz)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235440" y="2926080"/>
            <a:ext cx="2377440" cy="132588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235440" y="3017520"/>
            <a:ext cx="237744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87171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9326880" y="3695090"/>
            <a:ext cx="219456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canales de EMG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583680" y="4389120"/>
            <a:ext cx="5029200" cy="141732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583680" y="4389120"/>
            <a:ext cx="54864" cy="14173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766560" y="44805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D4BF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Preparación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720840" y="4828032"/>
            <a:ext cx="4800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Pasa-altos de 0.5 Hz </a:t>
            </a:r>
            <a:r>
              <a:rPr lang="en-US" sz="12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igual en y y en x</a:t>
            </a:r>
            <a:r>
              <a:rPr lang="en-US" sz="12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, para no tratarlos distinto.</a:t>
            </a:r>
            <a:endParaRPr lang="en-US" sz="12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2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Recorte 2–338 s: después de la tarea la señal se rompe.</a:t>
            </a:r>
            <a:endParaRPr lang="en-US" sz="12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02 · INSPECCIÓN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Cómo se ven los parpadeos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97837" y="1371600"/>
            <a:ext cx="5370886" cy="493776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15875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tmp/claude-1000/-home-pedro-Documents-pasa-tps/c6b13180-8cb5-4ce6-b36f-44b56b40c212/scratchpad/deck/fig/c010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989" y="1444752"/>
            <a:ext cx="5224582" cy="4791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4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4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60 s de HEO, Fp1, Fp2, F7, F8, Pz y T7. Rojo: marcas de </a:t>
            </a:r>
            <a:r>
              <a:rPr lang="en-US" sz="14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Blinks</a:t>
            </a:r>
            <a:r>
              <a:rPr lang="en-US" sz="14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; naranja: ejecución del movimiento.</a:t>
            </a:r>
            <a:endParaRPr lang="en-US" sz="14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4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4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Cada marca cae sobre un pico:</a:t>
            </a:r>
            <a:r>
              <a:rPr lang="en-US" sz="14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~250–550 µV en HEO, ~200 µV en Fp1/Fp2. La columna está bien alineada.</a:t>
            </a:r>
            <a:endParaRPr lang="en-US" sz="14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4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4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Picos angostos, de ~0.2 s.</a:t>
            </a:r>
            <a:endParaRPr lang="en-US" sz="14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4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4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HEO sirve de referencia, pero probablemente no es horizontal:</a:t>
            </a:r>
            <a:endParaRPr lang="en-US" sz="140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64748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     –  </a:t>
            </a:r>
            <a:r>
              <a:rPr lang="en-US" sz="12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Un EOG horizontal casi no ve parpadeos. Este los ve más grandes que Fp1.</a:t>
            </a:r>
            <a:endParaRPr lang="en-US" sz="140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64748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     –  </a:t>
            </a:r>
            <a:r>
              <a:rPr lang="en-US" sz="12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Lo más probable: es el EOG vertical con la etiqueta equivocada.</a:t>
            </a:r>
            <a:endParaRPr lang="en-US" sz="14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4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4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Ondas lentas en todos los canales que HEO no tiene</a:t>
            </a:r>
            <a:r>
              <a:rPr lang="en-US" sz="14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(las retomamos más adelante).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02 · INSPECCIÓN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Cuánto parpadeo llega a cada electrodo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395476"/>
            <a:ext cx="6949440" cy="2466848"/>
          </a:xfrm>
          <a:prstGeom prst="roundRect">
            <a:avLst>
              <a:gd name="adj" fmla="val 2224"/>
            </a:avLst>
          </a:prstGeom>
          <a:solidFill>
            <a:srgbClr val="FFFFFF"/>
          </a:solidFill>
          <a:ln w="15875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tmp/claude-1000/-home-pedro-Documents-pasa-tps/c6b13180-8cb5-4ce6-b36f-44b56b40c212/scratchpad/deck/fig/c013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468628"/>
            <a:ext cx="6803136" cy="232054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589520" y="1402786"/>
            <a:ext cx="4114800" cy="3046588"/>
          </a:xfrm>
          <a:prstGeom prst="roundRect">
            <a:avLst>
              <a:gd name="adj" fmla="val 1801"/>
            </a:avLst>
          </a:prstGeom>
          <a:solidFill>
            <a:srgbClr val="FFFFFF"/>
          </a:solidFill>
          <a:ln w="15875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1" descr="/tmp/claude-1000/-home-pedro-Documents-pasa-tps/c6b13180-8cb5-4ce6-b36f-44b56b40c212/scratchpad/deck/fig/c016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2672" y="1475938"/>
            <a:ext cx="3968496" cy="29002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57200" y="4069080"/>
            <a:ext cx="7040880" cy="2286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3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Promedio sincronizado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de 75 parpadeos (±1 s): lo atado al parpadeo se suma, el EEG tiende a 0.</a:t>
            </a:r>
            <a:endParaRPr lang="en-US" sz="13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3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Picos: HEO 485 µV · Fp1/Fpz/Fp2 ~200 µV · F7 ~85 µV · atrás 15–30 µV.</a:t>
            </a:r>
            <a:endParaRPr lang="en-US" sz="13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3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Mismo instante y misma forma en todos los canales: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solo cambia la escala.</a:t>
            </a:r>
            <a:endParaRPr lang="en-US" sz="13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3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λ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= pico del canal / pico de HEO: </a:t>
            </a:r>
            <a:r>
              <a:rPr lang="en-US" sz="13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≈ 0.4 en Fp1/Fp2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, ≈ 0.04 atrás. Gradiente adelante → atrás, simétrico.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7589520" y="4617720"/>
            <a:ext cx="411480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3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y(n): Fp1 y Fp2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, donde hay más que sacar.</a:t>
            </a:r>
            <a:endParaRPr lang="en-US" sz="13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3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Pz como control: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casi no le llega parpadeo, el filtro no debería tocarlo.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02 · INSPECCIÓN · PRIMERA PISTA PARA 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El camino ojo → electrodo no tiene retardo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469764"/>
            <a:ext cx="6675120" cy="3004073"/>
          </a:xfrm>
          <a:prstGeom prst="roundRect">
            <a:avLst>
              <a:gd name="adj" fmla="val 1826"/>
            </a:avLst>
          </a:prstGeom>
          <a:solidFill>
            <a:srgbClr val="FFFFFF"/>
          </a:solidFill>
          <a:ln w="15875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tmp/claude-1000/-home-pedro-Documents-pasa-tps/c6b13180-8cb5-4ce6-b36f-44b56b40c212/scratchpad/deck/fig/c019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542916"/>
            <a:ext cx="6528816" cy="2857769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463040"/>
          <a:ext cx="4114800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Canal</a:t>
                      </a:r>
                      <a:endParaRPr lang="en-US" sz="11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Lag del máx.</a:t>
                      </a:r>
                      <a:endParaRPr lang="en-US" sz="11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ρ(0)</a:t>
                      </a:r>
                      <a:endParaRPr lang="en-US" sz="11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Fp1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0 ms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0.90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Fp2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0 ms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0.90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F7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0 ms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0.74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F8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4 ms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0.46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Pz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4 ms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0.23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709160"/>
            <a:ext cx="11247120" cy="1645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3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Correlación cruzada HEO ↔ canal en ±1 s alrededor de cada parpadeo, promediada.</a:t>
            </a:r>
            <a:endParaRPr lang="en-US" sz="13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3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El máximo está en lag 0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(≤ 1 muestra): el camino es casi una </a:t>
            </a:r>
            <a:r>
              <a:rPr lang="en-US" sz="13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ganancia pura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.</a:t>
            </a:r>
            <a:endParaRPr lang="en-US" sz="13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3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Consecuencia: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alcanza con un FIR muy corto. Arrancamos con </a:t>
            </a:r>
            <a:r>
              <a:rPr lang="en-US" sz="13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M = 3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(He et al., 2004) y lo verificamos con un barrido en el cap. 05.</a:t>
            </a:r>
            <a:endParaRPr lang="en-US" sz="13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3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Las curvas son anchas porque el parpadeo es lento frente a 4 ms, no por retardo.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02 · INSPECCIÓN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Las bandas se pisan, y HEO casi no ve EEG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418671"/>
            <a:ext cx="6400800" cy="2923378"/>
          </a:xfrm>
          <a:prstGeom prst="roundRect">
            <a:avLst>
              <a:gd name="adj" fmla="val 1877"/>
            </a:avLst>
          </a:prstGeom>
          <a:solidFill>
            <a:srgbClr val="FFFFFF"/>
          </a:solidFill>
          <a:ln w="15875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tmp/claude-1000/-home-pedro-Documents-pasa-tps/c6b13180-8cb5-4ce6-b36f-44b56b40c212/scratchpad/deck/fig/c022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491823"/>
            <a:ext cx="6254496" cy="277707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4526280"/>
            <a:ext cx="640080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3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HEO tiene casi toda su potencia por debajo de ~10 Hz: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entre 1 y 5 Hz, 100 veces más que el EEG. Es δ y θ: </a:t>
            </a:r>
            <a:r>
              <a:rPr lang="en-US" sz="13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un pasa-altos fijo se lleva EEG.</a:t>
            </a:r>
            <a:endParaRPr lang="en-US" sz="13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3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Pz y T7 tienen α (~10 Hz) y β (~18 Hz): lo que el filtro </a:t>
            </a:r>
            <a:r>
              <a:rPr lang="en-US" sz="13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no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tiene que tocar.</a:t>
            </a:r>
            <a:endParaRPr lang="en-US" sz="13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3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En 50 Hz hay un pozo: ya venía con notch.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0" y="1463040"/>
          <a:ext cx="4572000" cy="9144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ρ(HEO, canal)</a:t>
                      </a:r>
                      <a:endParaRPr lang="en-US" sz="11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Con parpadeos</a:t>
                      </a:r>
                      <a:endParaRPr lang="en-US" sz="11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Sin parpadeos</a:t>
                      </a:r>
                      <a:endParaRPr lang="en-US" sz="11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Fp1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0.92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0.17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Fp2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0.92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0.15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F7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0.72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0.00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Pz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0.17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−0.04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Mediana (51)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0.34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−0.03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132320" y="3657600"/>
            <a:ext cx="4572000" cy="214884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7132320" y="3657600"/>
            <a:ext cx="54864" cy="214884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7315200" y="374904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BF2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Riesgo del método: fuga de EEG en x(n)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7269480" y="4096512"/>
            <a:ext cx="4343400" cy="1645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Si la referencia trae EEG, el filtro lo resta.</a:t>
            </a:r>
            <a:endParaRPr lang="en-US" sz="12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2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Fuera de los parpadeos ρ ≈ 0:</a:t>
            </a:r>
            <a:r>
              <a:rPr lang="en-US" sz="12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HEO es una buena referencia.</a:t>
            </a:r>
            <a:endParaRPr lang="en-US" sz="12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2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Fp1/Fp2 quedan en 0.15–0.17: un poco de ojo o de EEG frontal. Lo retomamos al final.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02 · INSPECCIÓN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Hay ruido que no viene de los ojos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425091"/>
            <a:ext cx="5120640" cy="4373579"/>
          </a:xfrm>
          <a:prstGeom prst="roundRect">
            <a:avLst>
              <a:gd name="adj" fmla="val 1254"/>
            </a:avLst>
          </a:prstGeom>
          <a:solidFill>
            <a:srgbClr val="FFFFFF"/>
          </a:solidFill>
          <a:ln w="15875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tmp/claude-1000/-home-pedro-Documents-pasa-tps/c6b13180-8cb5-4ce6-b36f-44b56b40c212/scratchpad/deck/fig/c028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498243"/>
            <a:ext cx="4974336" cy="422727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0" y="1463040"/>
            <a:ext cx="5852160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4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4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Correlación entre canales en 0.5–3 Hz, </a:t>
            </a:r>
            <a:r>
              <a:rPr lang="en-US" sz="14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solo fuera de los parpadeos</a:t>
            </a:r>
            <a:r>
              <a:rPr lang="en-US" sz="14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.</a:t>
            </a:r>
            <a:endParaRPr lang="en-US" sz="14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4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4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Todos los canales de EEG se parecen casi por completo: ρ = 0.83–0.96</a:t>
            </a:r>
            <a:r>
              <a:rPr lang="en-US" sz="14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, incluso Fp1 con O1 o T7 con T8.</a:t>
            </a:r>
            <a:endParaRPr lang="en-US" sz="14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4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4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Eso es raro:</a:t>
            </a:r>
            <a:r>
              <a:rPr lang="en-US" sz="14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zonas del cerebro a ~20 cm no deberían parecerse tanto. Indica </a:t>
            </a:r>
            <a:r>
              <a:rPr lang="en-US" sz="14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una señal común que no viene del cerebro</a:t>
            </a:r>
            <a:r>
              <a:rPr lang="en-US" sz="14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y entra igual en todos los canales.</a:t>
            </a:r>
            <a:endParaRPr lang="en-US" sz="14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4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4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HEO, M1 y M2 no participan</a:t>
            </a:r>
            <a:r>
              <a:rPr lang="en-US" sz="14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(ρ ≈ 0).</a:t>
            </a:r>
            <a:endParaRPr lang="en-US" sz="14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4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4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El promedio de los 51 canales buenos explica el </a:t>
            </a:r>
            <a:r>
              <a:rPr lang="en-US" sz="14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91 % de la potencia de Pz</a:t>
            </a:r>
            <a:r>
              <a:rPr lang="en-US" sz="14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.</a:t>
            </a:r>
            <a:endParaRPr lang="en-US" sz="14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4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4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Hipótesis:</a:t>
            </a:r>
            <a:r>
              <a:rPr lang="en-US" sz="14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el electrodo de referencia. Todos los canales se miden contra él, así que su ruido aparece idéntico en todos.</a:t>
            </a:r>
            <a:endParaRPr lang="en-US" sz="14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4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4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Para el filtro:</a:t>
            </a:r>
            <a:r>
              <a:rPr lang="en-US" sz="14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no está en HEO, así que </a:t>
            </a:r>
            <a:r>
              <a:rPr lang="en-US" sz="14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ningún filtro con esta referencia lo puede sacar</a:t>
            </a:r>
            <a:r>
              <a:rPr lang="en-US" sz="14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. Va a quedar en e(n).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02 · INSPECCIÓN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Qué decide la inspección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Decisión</a:t>
                      </a:r>
                      <a:endParaRPr lang="en-US" sz="13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Valor</a:t>
                      </a:r>
                      <a:endParaRPr lang="en-US" sz="13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Por qué</a:t>
                      </a:r>
                      <a:endParaRPr lang="en-US" sz="13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Deseada y(n)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Fp1, Fp2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λ ≈ 0.4: es donde más parpadeo hay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Control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Pz</a:t>
                      </a:r>
                      <a:endParaRPr lang="en-US" sz="14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λ ≈ 0.04: el filtro no debería cambiarlo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Referencia x(n)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HEO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ρ = 0.9 con Fp1 en parpadeos, ≈ 0 fuera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Orden M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3 (a verificar)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Sin retardo: casi una ganancia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Lo que no se puede sacar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Parte común lenta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No está en HEO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Sin EMG: el problema queda reducido a cancelar parpadeos con una sola referencia de EOG.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03 · PRIMERA CORRIDA · LAS SEÑALES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Qué es cada señal en este capítulo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Señal</a:t>
                      </a:r>
                      <a:endParaRPr lang="en-US" sz="13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En la cuenta</a:t>
                      </a:r>
                      <a:endParaRPr lang="en-US" sz="13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Qué es acá</a:t>
                      </a:r>
                      <a:endParaRPr lang="en-US" sz="13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y(n)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deseada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Un canal medido: Fp1, Fp2 o Pz.</a:t>
                      </a: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 Tiene EEG + parpadeo mezclados. Lo que dice cada gráfico arriba ("Fp1", "Pz") es cuál canal es y(n).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x(n)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[HEO(n), HEO(n−1), HEO(n−2)]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La referencia, siempre la misma:</a:t>
                      </a: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 el canal de EOG. Ve el parpadeo, casi no ve EEG.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ŷ(n)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wᵀ(n) x(n)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El parpadeo que el filtro estima que llegó a ese canal.</a:t>
                      </a: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 No es el EEG: el filtro solo puede armar lo de y(n) que se parece a x(n).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e(n)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y(n) − ŷ(n)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El EEG estimado de ese canal:</a:t>
                      </a: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 la salida que nos interesa.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074920"/>
            <a:ext cx="11064240" cy="1188720"/>
          </a:xfrm>
          <a:prstGeom prst="rect">
            <a:avLst/>
          </a:prstGeom>
          <a:solidFill>
            <a:srgbClr val="101A2E"/>
          </a:solidFill>
          <a:ln w="15875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5120640"/>
            <a:ext cx="1069848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Un filtro por canal:</a:t>
            </a:r>
            <a:r>
              <a:rPr lang="en-US" sz="13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Fp1, Fp2 y Pz se procesan por separado, cada uno con su propio w(n), y los tres con la misma x(n). Pz es el control: casi no tiene parpadeo, así que e(n) debería quedar igual a y(n).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03 · PRIMERA CORRIDA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NLMS como en el design review: y, ŷ y e en el tiempo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377025"/>
            <a:ext cx="6583680" cy="4423990"/>
          </a:xfrm>
          <a:prstGeom prst="roundRect">
            <a:avLst>
              <a:gd name="adj" fmla="val 1240"/>
            </a:avLst>
          </a:prstGeom>
          <a:solidFill>
            <a:srgbClr val="FFFFFF"/>
          </a:solidFill>
          <a:ln w="15875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tmp/claude-1000/-home-pedro-Documents-pasa-tps/c6b13180-8cb5-4ce6-b36f-44b56b40c212/scratchpad/deck/fig/c046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450177"/>
            <a:ext cx="6437376" cy="42776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5852160"/>
            <a:ext cx="658368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Metaparámetros de partida: </a:t>
            </a:r>
            <a:r>
              <a:rPr lang="en-US" sz="11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M = 3 · μ̃ = 0.03</a:t>
            </a:r>
            <a:r>
              <a:rPr lang="en-US" sz="11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(el elegido para el dataset anterior) </a:t>
            </a:r>
            <a:r>
              <a:rPr lang="en-US" sz="11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· δ = 10⁻³·M·P_x</a:t>
            </a:r>
            <a:r>
              <a:rPr lang="en-US" sz="11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(solo para no dividir por 0)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269480" y="1371600"/>
            <a:ext cx="4480560" cy="187452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7269480" y="1371600"/>
            <a:ext cx="54864" cy="18745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452360" y="144475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Cómo leer el gráfico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452360" y="1828800"/>
            <a:ext cx="274320" cy="54864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818120" y="17373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y(n)</a:t>
            </a:r>
            <a:r>
              <a:rPr lang="en-US" sz="12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: lo que mide el electrodo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452360" y="2103120"/>
            <a:ext cx="274320" cy="54864"/>
          </a:xfrm>
          <a:prstGeom prst="rect">
            <a:avLst/>
          </a:prstGeom>
          <a:solidFill>
            <a:srgbClr val="FF7F0E"/>
          </a:solidFill>
          <a:ln w="12700">
            <a:solidFill>
              <a:srgbClr val="FF7F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818120" y="20116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ŷ(n)</a:t>
            </a:r>
            <a:r>
              <a:rPr lang="en-US" sz="12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: lo que el filtro va a restar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452360" y="2377440"/>
            <a:ext cx="274320" cy="54864"/>
          </a:xfrm>
          <a:prstGeom prst="rect">
            <a:avLst/>
          </a:prstGeom>
          <a:solidFill>
            <a:srgbClr val="2CA02C"/>
          </a:solidFill>
          <a:ln w="12700">
            <a:solidFill>
              <a:srgbClr val="2CA0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818120" y="22860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e(n) = y − ŷ</a:t>
            </a:r>
            <a:r>
              <a:rPr lang="en-US" sz="12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: lo que queda (EEG estimado)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452360" y="2651760"/>
            <a:ext cx="274320" cy="54864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818120" y="256032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Rojo punteado: parpadeos marcados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269480" y="3383280"/>
            <a:ext cx="4480560" cy="242316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7269480" y="3383280"/>
            <a:ext cx="54864" cy="242316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7452360" y="345643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DE8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Qué esperaríamos si anduviera bien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406640" y="3749040"/>
            <a:ext cx="4251960" cy="2057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En cada línea roja:</a:t>
            </a:r>
            <a:r>
              <a:rPr lang="en-US" sz="12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la naranja copia el pico de la azul, y la verde </a:t>
            </a:r>
            <a:r>
              <a:rPr lang="en-US" sz="12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no tiene pico</a:t>
            </a:r>
            <a:r>
              <a:rPr lang="en-US" sz="12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.</a:t>
            </a:r>
            <a:endParaRPr lang="en-US" sz="12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2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Entre líneas rojas:</a:t>
            </a:r>
            <a:r>
              <a:rPr lang="en-US" sz="12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la naranja queda cerca de 0, y la verde encima de la azul (no hay nada que sacar).</a:t>
            </a:r>
            <a:endParaRPr lang="en-US" sz="12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2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En Pz:</a:t>
            </a:r>
            <a:r>
              <a:rPr lang="en-US" sz="12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casi no hay parpadeo, así que la verde debería ser igual a la azul.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03 · PRIMERA CORRIDA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Parpadeo por parpadeo: el filtro resta cualquier cosa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t [s]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Fp1: y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Fp1: ŷ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Fp1: e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Qué pasó en Fp1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Pz: y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Pz: e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43.5</a:t>
                      </a:r>
                      <a:endParaRPr lang="en-US" sz="13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249</a:t>
                      </a:r>
                      <a:endParaRPr lang="en-US" sz="13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−65</a:t>
                      </a:r>
                      <a:endParaRPr lang="en-US" sz="13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315</a:t>
                      </a:r>
                      <a:endParaRPr lang="en-US" sz="13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No lo saca: lo agranda</a:t>
                      </a:r>
                      <a:endParaRPr lang="en-US" sz="13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52</a:t>
                      </a:r>
                      <a:endParaRPr lang="en-US" sz="13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323</a:t>
                      </a:r>
                      <a:endParaRPr lang="en-US" sz="13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47.6</a:t>
                      </a:r>
                      <a:endParaRPr lang="en-US" sz="13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215</a:t>
                      </a:r>
                      <a:endParaRPr lang="en-US" sz="13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121</a:t>
                      </a:r>
                      <a:endParaRPr lang="en-US" sz="13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94</a:t>
                      </a:r>
                      <a:endParaRPr lang="en-US" sz="13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Saca la mitad</a:t>
                      </a:r>
                      <a:endParaRPr lang="en-US" sz="13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36</a:t>
                      </a:r>
                      <a:endParaRPr lang="en-US" sz="13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23</a:t>
                      </a:r>
                      <a:endParaRPr lang="en-US" sz="13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50.7</a:t>
                      </a:r>
                      <a:endParaRPr lang="en-US" sz="13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231</a:t>
                      </a:r>
                      <a:endParaRPr lang="en-US" sz="13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329</a:t>
                      </a:r>
                      <a:endParaRPr lang="en-US" sz="13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−99</a:t>
                      </a:r>
                      <a:endParaRPr lang="en-US" sz="13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Resta de más: pico negativo nuevo</a:t>
                      </a:r>
                      <a:endParaRPr lang="en-US" sz="13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−17</a:t>
                      </a:r>
                      <a:endParaRPr lang="en-US" sz="13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−31</a:t>
                      </a:r>
                      <a:endParaRPr lang="en-US" sz="13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54.9</a:t>
                      </a:r>
                      <a:endParaRPr lang="en-US" sz="13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257</a:t>
                      </a:r>
                      <a:endParaRPr lang="en-US" sz="13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−76</a:t>
                      </a:r>
                      <a:endParaRPr lang="en-US" sz="13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334</a:t>
                      </a:r>
                      <a:endParaRPr lang="en-US" sz="13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No lo saca: lo agranda</a:t>
                      </a:r>
                      <a:endParaRPr lang="en-US" sz="13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71</a:t>
                      </a:r>
                      <a:endParaRPr lang="en-US" sz="13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487</a:t>
                      </a:r>
                      <a:endParaRPr lang="en-US" sz="13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520440"/>
            <a:ext cx="1124712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Valores en µV en el instante del pico de y (dentro de ±0.1 s de cada marca). Son los mismos puntos del gráfico anterior. Falta el de 52.3 s: ahí lo que se ve es la onda lenta común, no el parpadeo.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57200" y="4069080"/>
            <a:ext cx="5486400" cy="224028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457200" y="4069080"/>
            <a:ext cx="54864" cy="224028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" y="414223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Qué se ve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94360" y="4434840"/>
            <a:ext cx="5257800" cy="1874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2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Cada parpadeo sale distinto: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a veces lo agranda, a veces saca la mitad, a veces resta de más.</a:t>
            </a:r>
            <a:endParaRPr lang="en-US" sz="12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2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En Pz el filtro inventa parpadeos: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pasa de 52 a 323 µV y de 71 a 487 µV.</a:t>
            </a:r>
            <a:endParaRPr lang="en-US" sz="12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2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Entre parpadeos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(52–55 s en el gráfico) la naranja oscila ±100 µV, y la verde hereda ese ruido.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17920" y="4069080"/>
            <a:ext cx="5486400" cy="224028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217920" y="4069080"/>
            <a:ext cx="54864" cy="22402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400800" y="414223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BF2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Qué implica</a:t>
            </a:r>
            <a:endParaRPr lang="en-US" sz="1200" dirty="0"/>
          </a:p>
        </p:txBody>
      </p:sp>
      <p:sp>
        <p:nvSpPr>
          <p:cNvPr id="5" name="Text 11"/>
          <p:cNvSpPr/>
          <p:nvPr/>
        </p:nvSpPr>
        <p:spPr>
          <a:xfrm>
            <a:off x="6355080" y="4434840"/>
            <a:ext cx="5257800" cy="1874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2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Cuánto resta depende de </a:t>
            </a:r>
            <a:r>
              <a:rPr lang="en-US" sz="12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dónde están los coeficientes cuando llega el parpadeo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: ŷ = w₀x(n) + w₁x(n−1) + w₂x(n−2).</a:t>
            </a:r>
            <a:endParaRPr lang="en-US" sz="12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2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Si el resultado es así de distinto en cada parpadeo, </a:t>
            </a:r>
            <a:r>
              <a:rPr lang="en-US" sz="12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los coeficientes tienen que estar cambiando todo el tiempo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. Lo confirmamos en la diapositiva siguiente.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03 · PRIMERA CORRIDA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NLMS como en el design review: w(n) no converge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657600" cy="205740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4864" cy="205740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50876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Metaparámetros de partida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856232"/>
            <a:ext cx="342900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M = 3</a:t>
            </a:r>
            <a:endParaRPr lang="en-US" sz="12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2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μ̃ = 0.03: </a:t>
            </a:r>
            <a:r>
              <a:rPr lang="en-US" sz="12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el elegido para el dataset anterior</a:t>
            </a:r>
            <a:r>
              <a:rPr lang="en-US" sz="12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, no para este</a:t>
            </a:r>
            <a:endParaRPr lang="en-US" sz="12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2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δ = 10⁻³·M·P_x: solo para no dividir por 0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468776"/>
            <a:ext cx="7498080" cy="2091647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5875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0" descr="/tmp/claude-1000/-home-pedro-Documents-pasa-tps/c6b13180-8cb5-4ce6-b36f-44b56b40c212/scratchpad/deck/fig/c049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1541928"/>
            <a:ext cx="7351776" cy="1945343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57200" y="3794760"/>
            <a:ext cx="11247120" cy="2560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4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4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Los coeficientes saltan entre −6 y +5</a:t>
            </a:r>
            <a:r>
              <a:rPr lang="en-US" sz="14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, con w_o entre 0 y 0.32. Pasa durante los 336 s, no es un transitorio.</a:t>
            </a:r>
            <a:endParaRPr lang="en-US" sz="14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4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4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En Pz también</a:t>
            </a:r>
            <a:r>
              <a:rPr lang="en-US" sz="14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, aunque ahí w_o ≈ 0.</a:t>
            </a:r>
            <a:endParaRPr lang="en-US" sz="14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4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4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No es un error de código.</a:t>
            </a:r>
            <a:r>
              <a:rPr lang="en-US" sz="14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Chequeo con h conocido y referencia blanca: w(N) = [0.776, −0.299, 0.12] contra [0.8, −0.3, 0.1].</a:t>
            </a:r>
            <a:endParaRPr lang="en-US" sz="14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4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4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Pero con </a:t>
            </a:r>
            <a:r>
              <a:rPr lang="en-US" sz="14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HEO real</a:t>
            </a:r>
            <a:r>
              <a:rPr lang="en-US" sz="14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como referencia y la misma h, tampoco llega: el spread de R es </a:t>
            </a:r>
            <a:r>
              <a:rPr lang="en-US" sz="14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2685</a:t>
            </a:r>
            <a:r>
              <a:rPr lang="en-US" sz="14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(en el dataset anterior, ~300).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03 · PRIMERA CORRIDA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En promedio el parpadeo baja, pero se agrega ruido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330425" y="1371600"/>
            <a:ext cx="7500671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5875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tmp/claude-1000/-home-pedro-Documents-pasa-tps/c6b13180-8cb5-4ce6-b36f-44b56b40c212/scratchpad/deck/fig/c052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3577" y="1444752"/>
            <a:ext cx="7354367" cy="1956816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11247120" cy="914400"/>
        </p:xfrm>
        <a:graphic>
          <a:graphicData uri="http://schemas.openxmlformats.org/drawingml/2006/table">
            <a:tbl>
              <a:tblPr/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NLMS δ chico, μ̃ = 0.03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Pico parpadeo y → e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0.5–8 Hz con parp.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α sin parp.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RRMSE(e, y) sin parp.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Fp1</a:t>
                      </a:r>
                      <a:endParaRPr lang="en-US" sz="13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203 → −36 µV</a:t>
                      </a:r>
                      <a:endParaRPr lang="en-US" sz="13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−0.3 dB</a:t>
                      </a:r>
                      <a:endParaRPr lang="en-US" sz="13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+1.8 dB</a:t>
                      </a:r>
                      <a:endParaRPr lang="en-US" sz="13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0.86</a:t>
                      </a:r>
                      <a:endParaRPr lang="en-US" sz="13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Pz (control)</a:t>
                      </a:r>
                      <a:endParaRPr lang="en-US" sz="13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23 → −15 µV</a:t>
                      </a:r>
                      <a:endParaRPr lang="en-US" sz="13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+13.9 dB</a:t>
                      </a:r>
                      <a:endParaRPr lang="en-US" sz="13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+1.6 dB</a:t>
                      </a:r>
                      <a:endParaRPr lang="en-US" sz="13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0.87</a:t>
                      </a:r>
                      <a:endParaRPr lang="en-US" sz="13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4846320"/>
            <a:ext cx="1124712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2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Gráfico: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promedio de los 75 parpadeos (±1 s). Azul y, naranja e. </a:t>
            </a:r>
            <a:r>
              <a:rPr lang="en-US" sz="12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En Fp1 el pico baja, pero queda un pozo de −36 µV: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en promedio resta de más.</a:t>
            </a:r>
            <a:endParaRPr lang="en-US" sz="12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2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Ojo, el promedio engaña: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los parpadeos que agranda y los que resta de más (diapositiva anterior) se compensan entre sí.</a:t>
            </a:r>
            <a:endParaRPr lang="en-US" sz="12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2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Tabla: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potencia de e contra la de y, en dB (0 = no cambió; + = agregó). </a:t>
            </a:r>
            <a:r>
              <a:rPr lang="en-US" sz="12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Fuera de los parpadeos agrega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(+1.8 dB en α), y RRMSE(e, y) = 0.86 dice que e es muy distinta de y donde no había nada que sacar.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04 · DIAGNÓSTICO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La energía de la referencia y el paso de cada algoritmo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390290"/>
            <a:ext cx="6949440" cy="3803100"/>
          </a:xfrm>
          <a:prstGeom prst="roundRect">
            <a:avLst>
              <a:gd name="adj" fmla="val 1443"/>
            </a:avLst>
          </a:prstGeom>
          <a:solidFill>
            <a:srgbClr val="FFFFFF"/>
          </a:solidFill>
          <a:ln w="15875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tmp/claude-1000/-home-pedro-Documents-pasa-tps/c6b13180-8cb5-4ce6-b36f-44b56b40c212/scratchpad/deck/fig/c059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463442"/>
            <a:ext cx="6803136" cy="365679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635240" y="1371600"/>
            <a:ext cx="4114800" cy="187452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7635240" y="1371600"/>
            <a:ext cx="54864" cy="18745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818120" y="14447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Cómo leer el gráfico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772400" y="1737360"/>
            <a:ext cx="3931920" cy="1508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60 s de grabación.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Escala logarítmica: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cada renglón de la grilla es ×10.</a:t>
            </a:r>
            <a:endParaRPr lang="en-US" sz="11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Arriba: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‖x(n)‖², la energía de las 3 muestras de HEO que entran al filtro.</a:t>
            </a:r>
            <a:endParaRPr lang="en-US" sz="11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Abajo: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el paso μ(n) de cada algoritmo. Rojo: parpadeos.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635240" y="3383280"/>
            <a:ext cx="4114800" cy="292608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7635240" y="3383280"/>
            <a:ext cx="54864" cy="29260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818120" y="345643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BF2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Qué se ve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772400" y="3749040"/>
            <a:ext cx="3931920" cy="2560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Arriba: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en cada línea roja, un pico de ~10⁶ µV². Entre parpadeos, ‖x‖² baja a 10–10⁴: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cien a cien mil veces menos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.</a:t>
            </a:r>
            <a:endParaRPr lang="en-US" sz="11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Abajo, azul (NLMS δ chico):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es la imagen espejada de arriba.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Paso grande entre parpadeos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(10⁻⁴–10⁻³) y mínimo justo en el parpadeo (~10⁻⁷).</a:t>
            </a:r>
            <a:endParaRPr lang="en-US" sz="11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Naranja (δ grande) y verde (LMS):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casi planos.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57200" y="5349240"/>
            <a:ext cx="6949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Con δ chico, μ(n) = μ̃ / (‖x‖² + δ) ≈ μ̃ / ‖x‖²: si la energía baja 1000 veces, el paso sube 1000 veces.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04 · DIAGNÓSTICO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Por qué eso rompe el filtro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2743200" cy="137160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BBF2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52×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258568"/>
            <a:ext cx="2560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menos potencia de HEO fuera de los parpadeos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2743200" cy="137160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3108960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87171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&gt;2000×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40080" y="3813048"/>
            <a:ext cx="2560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más grande el paso de NLMS (δ chico) entre parpadeos que en el pico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4572000"/>
            <a:ext cx="3291840" cy="1783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De dónde salen</a:t>
            </a:r>
            <a:r>
              <a:rPr lang="en-US" sz="105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(no se leen del gráfico, se calcularon):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• 52×: potencia media de HEO en las ventanas de parpadeo (±0.5 s) contra el resto: 17 738 / 338 µV².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• 2000×: mediana de μ(n) fuera de los parpadeos contra en el pico: 8.7·10⁻⁵ / 3.8·10⁻⁸ ≈ 2300.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14800" y="1463040"/>
            <a:ext cx="7589520" cy="484632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114800" y="1463040"/>
            <a:ext cx="54864" cy="48463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297680" y="153619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El razonamiento, paso a paso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51960" y="1828800"/>
            <a:ext cx="7360920" cy="4480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3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1. El filtro tiene que aprender un solo número, en esencia: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qué fracción del parpadeo de HEO llega a Fp1 (λ ≈ 0.4).</a:t>
            </a:r>
            <a:endParaRPr lang="en-US" sz="13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3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2. Eso solo se puede aprender cuando hay parpadeo.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Entre parpadeos HEO casi no tiene nada, e(n) es casi todo EEG, y el EEG no tiene relación con HEO.</a:t>
            </a:r>
            <a:endParaRPr lang="en-US" sz="13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3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3. Para el filtro, ese EEG es ruido en el gradiente.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Cada paso es μ(n)·x(n)·e(n): si e(n) es EEG, el paso empuja a w en una dirección al azar.</a:t>
            </a:r>
            <a:endParaRPr lang="en-US" sz="13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3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4. NLMS con δ chico da sus pasos más grandes justo ahí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(gráfico anterior, azul abajo). Muchos pasos grandes al azar ⇒ </a:t>
            </a:r>
            <a:r>
              <a:rPr lang="en-US" sz="13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w(n) salta de −6 a +5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.</a:t>
            </a:r>
            <a:endParaRPr lang="en-US" sz="13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3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5. Cuando llega el parpadeo, el filtro resta w·x con el w que haya quedado.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Por eso cada parpadeo sale distinto.</a:t>
            </a:r>
            <a:endParaRPr lang="en-US" sz="13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3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Contradice el design review: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elegimos NLMS porque "compensa los cambios de potencia de x(n)". Acá compensar es justamente el problema.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04 · DIAGNÓSTICO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Cómo un δ grande hace de "llave"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1064240" cy="731520"/>
          </a:xfrm>
          <a:prstGeom prst="rect">
            <a:avLst/>
          </a:prstGeom>
          <a:solidFill>
            <a:srgbClr val="0E1628"/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Δw = μ(n) · x(n) · e(n)        μ(n) = μ̃ / (‖x(n)‖² + δ)        δ = 100·M·P_x ≈ 1.25·10⁶ µV²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2240280"/>
            <a:ext cx="110642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Ojo:</a:t>
            </a:r>
            <a:r>
              <a:rPr lang="en-US" sz="13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con δ grande el paso μ(n) </a:t>
            </a:r>
            <a:r>
              <a:rPr lang="en-US" sz="13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no</a:t>
            </a:r>
            <a:r>
              <a:rPr lang="en-US" sz="13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crece en los parpadeos. Lo que crece es la </a:t>
            </a:r>
            <a:r>
              <a:rPr lang="en-US" sz="13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corrección Δw</a:t>
            </a:r>
            <a:r>
              <a:rPr lang="en-US" sz="13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, porque x(n) y e(n) son grandes. La llave está en x·e, no en μ. (Órdenes de magnitud con valores típicos de Fp1.)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880360"/>
            <a:ext cx="5440680" cy="205740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54864" cy="205740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2971800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Entre parpadeos: casi no se mueve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3319272"/>
            <a:ext cx="521208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2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‖x‖² ≈ 10–10⁴ ≪ δ  ⇒  μ(n) ≈ μ̃/δ ≈ 2.4·10⁻⁷, fijo.</a:t>
            </a:r>
            <a:endParaRPr lang="en-US" sz="12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2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x ≈ 18 µV (HEO quieto), e ≈ 20 µV (EEG) ⇒ x·e ≈ 360.</a:t>
            </a:r>
            <a:endParaRPr lang="en-US" sz="12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2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Δw ≈ 10⁻⁴ por muestra: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los coeficientes quedan quietos.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2880360"/>
            <a:ext cx="5440680" cy="205740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172200" y="2880360"/>
            <a:ext cx="54864" cy="20574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355080" y="2971800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BF2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En un parpadeo: aprende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3319272"/>
            <a:ext cx="521208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2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‖x‖² ≈ 10⁶ ≈ δ  ⇒  μ(n) baja a la mitad, ~1.2·10⁻⁷.</a:t>
            </a:r>
            <a:endParaRPr lang="en-US" sz="12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2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x ≈ 500 µV, e ≈ 200 µV (el parpadeo que falta restar) ⇒ x·e ≈ 10⁵: </a:t>
            </a:r>
            <a:r>
              <a:rPr lang="en-US" sz="12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~280 veces más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.</a:t>
            </a:r>
            <a:endParaRPr lang="en-US" sz="12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2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Δw ≈ 10⁻² por muestra: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~100 veces más que entre parpadeos.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5440680" cy="123444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48640" y="5074920"/>
            <a:ext cx="54864" cy="123444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31520" y="5166360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87171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Con δ chico era al revés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5513832"/>
            <a:ext cx="51663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μ(n) ≈ μ̃/‖x‖² ⇒ Δw ≈ μ̃·e/‖x‖: la normalización cancela x, y la corrección es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más grande cuanto más chico es x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, o sea entre parpadeos, donde e es solo EEG.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72200" y="5074920"/>
            <a:ext cx="5440680" cy="123444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172200" y="5074920"/>
            <a:ext cx="54864" cy="1234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355080" y="5166360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DE8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En resumen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55080" y="5513832"/>
            <a:ext cx="51663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Con δ grande, entre parpadeos NLMS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es LMS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: corrige proporcional a x. En un parpadeo enorme (HEO &gt; ~650 µV), ‖x‖² &gt; δ y normaliza: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no diverge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04 · DIAGNÓSTICO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Probamos tres variantes: solo cambiar δ estabiliza w(n)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532515" y="1371600"/>
            <a:ext cx="9096489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5875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tmp/claude-1000/-home-pedro-Documents-pasa-tps/c6b13180-8cb5-4ce6-b36f-44b56b40c212/scratchpad/deck/fig/c067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5667" y="1444752"/>
            <a:ext cx="8950185" cy="236829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4023360"/>
            <a:ext cx="5486400" cy="228600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457200" y="4023360"/>
            <a:ext cx="54864" cy="228600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" y="409651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Cómo leer el gráfico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94360" y="4389120"/>
            <a:ext cx="5257800" cy="1920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Un panel por algoritmo, sobre Fp1, con el mismo μ̃ = 0.03 y la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misma escala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(−2 a 2).</a:t>
            </a:r>
            <a:endParaRPr lang="en-US" sz="11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Líneas llenas: los 3 coeficientes w₀, w₁, w₂ durante los 336 s.</a:t>
            </a:r>
            <a:endParaRPr lang="en-US" sz="11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Punteadas: los valores de Wiener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(el mejor filtro fijo): w₀ = 0.32 en azul; w₁ y w₂ ≈ 0.03, casi encima de 0.</a:t>
            </a:r>
            <a:endParaRPr lang="en-US" sz="11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Si el filtro anda bien, cada línea llena se queda cerca de su punteada, con poco temblor.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17920" y="4023360"/>
            <a:ext cx="5486400" cy="228600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217920" y="4023360"/>
            <a:ext cx="54864" cy="22860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400800" y="409651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BF2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Qué se ve y qué implica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355080" y="4389120"/>
            <a:ext cx="5257800" cy="1920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Izquierda (δ chico, la primera corrida):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se sale de la escala todo el tiempo.</a:t>
            </a:r>
            <a:endParaRPr lang="en-US" sz="11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Centro (δ = 10·M·P_x):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líneas casi rectas: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mismo algoritmo, solo cambió δ.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Confirma el diagnóstico: el problema eran los pasos grandes entre parpadeos.</a:t>
            </a:r>
            <a:endParaRPr lang="en-US" sz="11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Derecha (LMS):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se mueve más que el del centro, pero 4 veces menos que el de la izquierda.</a:t>
            </a:r>
            <a:endParaRPr lang="en-US" sz="11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Ninguno llega a cada punteada por separado (lo explicamos en el cap. 06).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04 · DIAGNÓSTICO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Con w(n) estable, el filtro deja de agregar ruido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Fp1, μ̃ = 0.03</a:t>
                      </a:r>
                      <a:endParaRPr lang="en-US" sz="11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NLMS δ chico</a:t>
                      </a:r>
                      <a:endParaRPr lang="en-US" sz="11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NLMS δ = 10·M·P_x</a:t>
                      </a:r>
                      <a:endParaRPr lang="en-US" sz="11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LMS</a:t>
                      </a:r>
                      <a:endParaRPr lang="en-US" sz="11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Qué mide (y qué queremos)</a:t>
                      </a:r>
                      <a:endParaRPr lang="en-US" sz="11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std de w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0.42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BBF24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0.02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0.10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Cuánto tiemblan los coeficientes (chico)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Parpadeo en e (en y: 203 µV)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−36 µV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BBF24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+26 µV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+13 µV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Pico del parpadeo promedio que queda (≈ 0)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0.5–8 Hz con parpadeo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−0.3 dB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BBF24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−11.9 dB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−13.1 dB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Cuánto bajó la banda del parpadeo (muy negativo)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α sin parpadeo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+1.8 dB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BBF24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−0.9 dB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−0.8 dB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Cuánto cambió el EEG que no hay que tocar (≈ 0)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RRMSE(e, y) sin parpadeo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0.86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BBF24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0.31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0.37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Cuánto difiere e de y donde no hay parpadeo (≈ 0)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069080"/>
            <a:ext cx="1124712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Cuentas: dB = 10·log₁₀(P_e / P_y) en esa banda y esas muestras. RRMSE(e, y) = RMS(e − y) / RMS(y). "Sin parpadeo" = a más de 0.5 s de cualquier marca.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57200" y="4572000"/>
            <a:ext cx="5486400" cy="173736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457200" y="4572000"/>
            <a:ext cx="54864" cy="173736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" y="464515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DE8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Qué implica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94360" y="4937760"/>
            <a:ext cx="525780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Con δ grande, la banda del parpadeo baja 12 dB (16 veces menos potencia), y α ya no sube: </a:t>
            </a:r>
            <a:r>
              <a:rPr lang="en-US" sz="12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dejó de agregar ruido</a:t>
            </a:r>
            <a:r>
              <a:rPr lang="en-US" sz="12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.</a:t>
            </a:r>
            <a:endParaRPr lang="en-US" sz="12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2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Queda un resto de parpadeo (+26 µV). Falta elegir bien μ̃ y δ → cap. 05.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4572000"/>
            <a:ext cx="5486400" cy="173736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217920" y="4572000"/>
            <a:ext cx="54864" cy="173736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400800" y="464515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87171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LMS diverge con μ̃ = 0.1 (no está en la tabla)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355080" y="4937760"/>
            <a:ext cx="525780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LMS es estable si μ·‖x(n)‖² &lt; 2. Con μ = μ̃ / tr R, eso es μ̃·‖x‖²/tr R &lt; 2.</a:t>
            </a:r>
            <a:endParaRPr lang="en-US" sz="11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En el pico de un parpadeo, ‖x‖² ≈ 60·tr R ⇒ 0.1·60 = 6 &gt; 2: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explota en el primer parpadeo grande.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NLMS no puede: μ(n)·‖x‖² &lt; μ̃ siempre.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04 · DIAGNÓSTICO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Qué hace δ: NLMS como "LMS con seguro"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64240" cy="777240"/>
          </a:xfrm>
          <a:prstGeom prst="rect">
            <a:avLst/>
          </a:prstGeom>
          <a:solidFill>
            <a:srgbClr val="0E1628"/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μ(n) = μ̃ / (‖x(n)‖² + δ)          con   δ = δ_rel · M · P_x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3566160" cy="237744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48640" y="2468880"/>
            <a:ext cx="54864" cy="237744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256032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87171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δ chico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" y="2907792"/>
            <a:ext cx="3337560" cy="1874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3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μ(n) ≈ μ̃ / ‖x(n)‖²</a:t>
            </a:r>
            <a:endParaRPr lang="en-US" sz="13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3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Paso enorme </a:t>
            </a:r>
            <a:r>
              <a:rPr lang="en-US" sz="13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entre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parpadeos, mínimo en el pico.</a:t>
            </a:r>
            <a:endParaRPr lang="en-US" sz="13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3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Aprende cuando no hay información.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97680" y="2468880"/>
            <a:ext cx="3566160" cy="237744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297680" y="2468880"/>
            <a:ext cx="54864" cy="2377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480560" y="256032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Entre parpadeos, con δ grande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34840" y="2907792"/>
            <a:ext cx="3337560" cy="1874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3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‖x‖² ≪ δ  ⇒  μ(n) ≈ μ̃ / δ</a:t>
            </a:r>
            <a:endParaRPr lang="en-US" sz="13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3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Es LMS con paso fijo.</a:t>
            </a:r>
            <a:endParaRPr lang="en-US" sz="13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3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Lo que importa es el cociente μ̃/δ.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046720" y="2468880"/>
            <a:ext cx="3566160" cy="237744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046720" y="2468880"/>
            <a:ext cx="54864" cy="237744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229600" y="256032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BF2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Parpadeo enorme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183880" y="2907792"/>
            <a:ext cx="3337560" cy="1874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3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‖x‖² ≫ δ  ⇒  μ(n)·‖x(n)‖² → μ̃</a:t>
            </a:r>
            <a:endParaRPr lang="en-US" sz="13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3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Normaliza: estable para 0 &lt; μ̃ &lt; 2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con cualquier δ ≥ 0.</a:t>
            </a:r>
            <a:endParaRPr lang="en-US" sz="13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3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Con δ = 100·M·P_x actúa si HEO &gt; ~650 µV.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5120640"/>
            <a:ext cx="1124712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Con δ → ∞ NLMS es exactamente LMS con μ = μ̃/δ, y el seguro deja de actuar. Hay que elegir δ grande, pero no infinito: eso se mide en el cap. 05.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05 · SEMI-SINTÉTICO · LAS SEÑALES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Qué es cada señal en este capítulo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Señal</a:t>
                      </a:r>
                      <a:endParaRPr lang="en-US" sz="13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En la cuenta</a:t>
                      </a:r>
                      <a:endParaRPr lang="en-US" sz="13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Qué es acá</a:t>
                      </a:r>
                      <a:endParaRPr lang="en-US" sz="13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y(n)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s(n) + λ·(h ∗ η)(n)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Una mezcla que armamos nosotros:</a:t>
                      </a: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 EEG real de un canal de atrás + parpadeos de HEO de otro momento.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x(n)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η(n) + ruido blanco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La referencia:</a:t>
                      </a: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 los mismos parpadeos de HEO que metimos en y, con ruido 20 dB abajo.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ŷ(n)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wᵀ(n) x(n)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La estimación de λ·(h ∗ η):</a:t>
                      </a: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 el parpadeo que metimos.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e(n)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y(n) − ŷ(n)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La estimación de s(n).</a:t>
                      </a: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 Acá s(n) es conocida: por eso podemos medir e − s.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074920"/>
            <a:ext cx="11064240" cy="1188720"/>
          </a:xfrm>
          <a:prstGeom prst="rect">
            <a:avLst/>
          </a:prstGeom>
          <a:solidFill>
            <a:srgbClr val="101A2E"/>
          </a:solidFill>
          <a:ln w="15875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5120640"/>
            <a:ext cx="1069848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La diferencia con los datos reales:</a:t>
            </a:r>
            <a:r>
              <a:rPr lang="en-US" sz="13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el filtro ve una y(n) y una x(n) con las mismas propiedades que las reales, pero nosotros sabemos qué es EEG y qué es parpadeo.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05 · SEMI-SINTÉTICO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El algoritmo en sí mismo, con respuesta conocida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1064240" cy="1005840"/>
          </a:xfrm>
          <a:prstGeom prst="rect">
            <a:avLst/>
          </a:prstGeom>
          <a:solidFill>
            <a:srgbClr val="2A1F0A">
              <a:alpha val="80000"/>
            </a:srgbClr>
          </a:solidFill>
          <a:ln w="15875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1481328"/>
            <a:ext cx="107899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No decimos que conocemos el EEG real:</a:t>
            </a:r>
            <a:r>
              <a:rPr lang="en-US" sz="13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eso no se puede. Armamos una mezcla con </a:t>
            </a:r>
            <a:r>
              <a:rPr lang="en-US" sz="13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pedazos de EEG real</a:t>
            </a:r>
            <a:r>
              <a:rPr lang="en-US" sz="13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, de forma que nosotros sabemos la respuesta. Así evaluamos </a:t>
            </a:r>
            <a:r>
              <a:rPr lang="en-US" sz="13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el algoritmo</a:t>
            </a:r>
            <a:r>
              <a:rPr lang="en-US" sz="13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: si converge, a qué y con qué μ̃, δ y M. El filtro ve un y y un x con las mismas propiedades que los reales.</a:t>
            </a:r>
            <a:endParaRPr lang="en-US" sz="13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5176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Pieza</a:t>
                      </a:r>
                      <a:endParaRPr lang="en-US" sz="11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De dónde sale</a:t>
                      </a:r>
                      <a:endParaRPr lang="en-US" sz="11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Por qué</a:t>
                      </a:r>
                      <a:endParaRPr lang="en-US" sz="11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s(n), el "EEG"</a:t>
                      </a:r>
                      <a:endParaRPr lang="en-US" sz="12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20 s de un canal con λ &lt; 0.06 (30 posibles), tramo A</a:t>
                      </a:r>
                      <a:endParaRPr lang="en-US" sz="12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EEG real: α, β y la parte común</a:t>
                      </a:r>
                      <a:endParaRPr lang="en-US" sz="12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η(n), el parpadeo</a:t>
                      </a:r>
                      <a:endParaRPr lang="en-US" sz="12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20 s de HEO de un tramo B que no se superpone con A</a:t>
                      </a:r>
                      <a:endParaRPr lang="en-US" sz="12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Parpadeos reales, no relacionados con s</a:t>
                      </a:r>
                      <a:endParaRPr lang="en-US" sz="12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h</a:t>
                      </a:r>
                      <a:endParaRPr lang="en-US" sz="12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[1, 0.127, 0.078]: la forma del w_o de Wiener en Fp1</a:t>
                      </a:r>
                      <a:endParaRPr lang="en-US" sz="12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Camino parecido al real</a:t>
                      </a:r>
                      <a:endParaRPr lang="en-US" sz="12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λ</a:t>
                      </a:r>
                      <a:endParaRPr lang="en-US" sz="12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Ajustado para SNR = −1 dB, el medido en Fp1</a:t>
                      </a:r>
                      <a:endParaRPr lang="en-US" sz="12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Misma cantidad de parpadeo que Fp1</a:t>
                      </a:r>
                      <a:endParaRPr lang="en-US" sz="12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x(n)</a:t>
                      </a:r>
                      <a:endParaRPr lang="en-US" sz="12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η + ruido blanco 20 dB abajo</a:t>
                      </a:r>
                      <a:endParaRPr lang="en-US" sz="12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Ninguna referencia es exacta</a:t>
                      </a:r>
                      <a:endParaRPr lang="en-US" sz="12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5623560"/>
            <a:ext cx="1106424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y(n) = s(n) + λ·(h ∗ η)(n)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05 · SEMI-SINTÉTICO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Una realización: qué recibe el filtro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768496"/>
            <a:ext cx="6400800" cy="3778208"/>
          </a:xfrm>
          <a:prstGeom prst="roundRect">
            <a:avLst>
              <a:gd name="adj" fmla="val 1452"/>
            </a:avLst>
          </a:prstGeom>
          <a:solidFill>
            <a:srgbClr val="FFFFFF"/>
          </a:solidFill>
          <a:ln w="15875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tmp/claude-1000/-home-pedro-Documents-pasa-tps/c6b13180-8cb5-4ce6-b36f-44b56b40c212/scratchpad/deck/fig/c072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841648"/>
            <a:ext cx="6254496" cy="363190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086600" y="1371600"/>
            <a:ext cx="4663440" cy="237744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7086600" y="1371600"/>
            <a:ext cx="54864" cy="2377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269480" y="144475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Cómo leer el gráfico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223760" y="1737360"/>
            <a:ext cx="44805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Arriba, s(n):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el "EEG", 20 s de un canal de atrás (tramo A).</a:t>
            </a:r>
            <a:endParaRPr lang="en-US" sz="11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Medio, y(n):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la mezcla que ve el filtro.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635240" y="2606040"/>
            <a:ext cx="274320" cy="54864"/>
          </a:xfrm>
          <a:prstGeom prst="rect">
            <a:avLst/>
          </a:prstGeom>
          <a:solidFill>
            <a:srgbClr val="FF7F0E"/>
          </a:solidFill>
          <a:ln w="12700">
            <a:solidFill>
              <a:srgbClr val="FF7F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001000" y="25146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naranja: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y(n)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= s + parpadeo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635240" y="2880360"/>
            <a:ext cx="274320" cy="54864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8001000" y="27889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azul, de fondo: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s(n)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, para comparar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223760" y="3108960"/>
            <a:ext cx="448056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Abajo, x(n):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la referencia, HEO de otro tramo (B). Rosa: ventanas de parpadeo.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086600" y="3886200"/>
            <a:ext cx="4663440" cy="242316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7086600" y="3886200"/>
            <a:ext cx="54864" cy="24231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269480" y="395935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BF2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Qué se ve y qué implica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223760" y="4251960"/>
            <a:ext cx="4480560" cy="2057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Los picos de y (~250 µV) caen justo en las franjas rosas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, donde x tiene sus parpadeos (~550 µV). Es la proporción de Fp1 (~200 contra ~485 µV).</a:t>
            </a:r>
            <a:endParaRPr lang="en-US" sz="11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Entre franjas, la naranja tapa a la azul: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y ≈ s.</a:t>
            </a:r>
            <a:endParaRPr lang="en-US" sz="11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Es el mismo problema que en Fp1, pero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acá sabemos cuál es s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: podemos medir e − 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05 · SEMI-SINTÉTICO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Cómo medimos, en palabras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1064240" cy="105156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4864" cy="105156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1508760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Monte Carlo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1856232"/>
            <a:ext cx="108356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2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Se repite con </a:t>
            </a:r>
            <a:r>
              <a:rPr lang="en-US" sz="12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30 mezclas distintas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(otros tramos A y B, otro ruido) y se promedia. Las métricas se miden en la </a:t>
            </a:r>
            <a:r>
              <a:rPr lang="en-US" sz="12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segunda mitad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de cada mezcla, cuando el filtro ya aprendió.</a:t>
            </a:r>
            <a:endParaRPr lang="en-US" sz="12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517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77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Métrica</a:t>
                      </a:r>
                      <a:endParaRPr lang="en-US" sz="11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Cuenta</a:t>
                      </a:r>
                      <a:endParaRPr lang="en-US" sz="11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Cómo se lee</a:t>
                      </a:r>
                      <a:endParaRPr lang="en-US" sz="11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RRMSE(e, s)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RMS(e − s) / RMS(s)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Cuánto le erra e al EEG verdadero. 0 = perfecto; 1 = error tan grande como el EEG. Sin filtrar (e = y): 1.30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CC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Correlación de Pearson entre e y s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Si la forma de onda se parece. 1 = idéntica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Error de coeficientes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E‖w(n) − w_o‖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Qué tan lejos está w del óptimo, en el tiempo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t_conv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Cuándo el error de coeficientes deja de bajar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Cuánto tarda en aprender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Bias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‖E{w} − w_o‖ en la 2.ª mitad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Cuánto queda corrido del óptimo, en promedio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Error de cancelación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E|e(n) − s(n)|²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La curva de aprendizaje. J(n) = E|e|² no sirve: la tapa la potencia del EEG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05 · ELECCIÓN DE Μ̃ Y Δ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La grilla: 5 valores de δ × 7 de μ̃, más LMS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557545"/>
            <a:ext cx="5760720" cy="3651471"/>
          </a:xfrm>
          <a:prstGeom prst="roundRect">
            <a:avLst>
              <a:gd name="adj" fmla="val 1503"/>
            </a:avLst>
          </a:prstGeom>
          <a:solidFill>
            <a:srgbClr val="FFFFFF"/>
          </a:solidFill>
          <a:ln w="15875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tmp/claude-1000/-home-pedro-Documents-pasa-tps/c6b13180-8cb5-4ce6-b36f-44b56b40c212/scratchpad/deck/fig/c075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630697"/>
            <a:ext cx="5614416" cy="3505167"/>
          </a:xfrm>
          <a:prstGeom prst="rect">
            <a:avLst/>
          </a:prstGeom>
        </p:spPr>
      </p:pic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417320"/>
          <a:ext cx="5212080" cy="914400"/>
        </p:xfrm>
        <a:graphic>
          <a:graphicData uri="http://schemas.openxmlformats.org/drawingml/2006/table">
            <a:tbl>
              <a:tblPr/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Fila</a:t>
                      </a:r>
                      <a:endParaRPr lang="en-US" sz="11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Mejor μ̃</a:t>
                      </a:r>
                      <a:endParaRPr lang="en-US" sz="11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RRMSE</a:t>
                      </a:r>
                      <a:endParaRPr lang="en-US" sz="11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NLMS δ = 0.001·M·P_x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0.001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0.92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NLMS δ = 0.1·M·P_x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0.001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0.62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NLMS δ = 1·M·P_x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0.01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0.51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NLMS δ = 10·M·P_x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0.03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0.27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BBF24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NLMS δ = 100·M·P_x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BBF24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0.3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BBF24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0.22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LMS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0.001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0.20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92240" y="3840480"/>
            <a:ext cx="5212080" cy="2560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2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Más δ, mejor.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δ chico no sirve con ningún μ̃.</a:t>
            </a:r>
            <a:endParaRPr lang="en-US" sz="12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2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Hay una diagonal: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con δ grande manda μ̃/δ (≈ 3·10⁻³ en el óptimo).</a:t>
            </a:r>
            <a:endParaRPr lang="en-US" sz="12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2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LMS es apenas mejor, pero diverge desde μ̃ = 0.03: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solo un factor 30 entre su óptimo y la divergencia.</a:t>
            </a:r>
            <a:endParaRPr lang="en-US" sz="12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2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Elegido: δ = 100·M·P_x, μ̃ = 0.3.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RRMSE 0.22, no diverge en toda la grilla.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457200" y="5532120"/>
            <a:ext cx="1124712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Cada casilla es un Monte Carlo de 30 realizaciones. Color: RRMSE(e, s), más claro es mejor.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05 · CONVERGENCIA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Curva de aprendizaje, desajuste y bias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49777" y="1371600"/>
            <a:ext cx="8061965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5875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tmp/claude-1000/-home-pedro-Documents-pasa-tps/c6b13180-8cb5-4ce6-b36f-44b56b40c212/scratchpad/deck/fig/c078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929" y="1444752"/>
            <a:ext cx="7915661" cy="2505456"/>
          </a:xfrm>
          <a:prstGeom prst="rect">
            <a:avLst/>
          </a:prstGeom>
        </p:spPr>
      </p:pic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160520"/>
          <a:ext cx="11247120" cy="91440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RRMSE(e, s)</a:t>
                      </a:r>
                      <a:endParaRPr lang="en-US" sz="11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RRMSE sin parp.</a:t>
                      </a:r>
                      <a:endParaRPr lang="en-US" sz="11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CC</a:t>
                      </a:r>
                      <a:endParaRPr lang="en-US" sz="11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t_conv</a:t>
                      </a:r>
                      <a:endParaRPr lang="en-US" sz="11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Bias</a:t>
                      </a:r>
                      <a:endParaRPr lang="en-US" sz="11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Desajuste</a:t>
                      </a:r>
                      <a:endParaRPr lang="en-US" sz="11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NLMS δ chico (μ̃ 0.03)</a:t>
                      </a:r>
                      <a:endParaRPr lang="en-US" sz="12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1.25</a:t>
                      </a:r>
                      <a:endParaRPr lang="en-US" sz="12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0.77</a:t>
                      </a:r>
                      <a:endParaRPr lang="en-US" sz="12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0.51</a:t>
                      </a:r>
                      <a:endParaRPr lang="en-US" sz="12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no converge</a:t>
                      </a:r>
                      <a:endParaRPr lang="en-US" sz="12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0.12</a:t>
                      </a:r>
                      <a:endParaRPr lang="en-US" sz="12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55 %</a:t>
                      </a:r>
                      <a:endParaRPr lang="en-US" sz="12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LMS (μ̃ 0.001)</a:t>
                      </a:r>
                      <a:endParaRPr lang="en-US" sz="12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0.20</a:t>
                      </a:r>
                      <a:endParaRPr lang="en-US" sz="12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0.10</a:t>
                      </a:r>
                      <a:endParaRPr lang="en-US" sz="12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0.97</a:t>
                      </a:r>
                      <a:endParaRPr lang="en-US" sz="12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8.7 s</a:t>
                      </a:r>
                      <a:endParaRPr lang="en-US" sz="12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0.10</a:t>
                      </a:r>
                      <a:endParaRPr lang="en-US" sz="12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−11 %</a:t>
                      </a:r>
                      <a:endParaRPr lang="en-US" sz="12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BBF24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Elegido (δ 100, μ̃ 0.3)</a:t>
                      </a:r>
                      <a:endParaRPr lang="en-US" sz="12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BBF24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0.22</a:t>
                      </a:r>
                      <a:endParaRPr lang="en-US" sz="12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BBF24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0.12</a:t>
                      </a:r>
                      <a:endParaRPr lang="en-US" sz="12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BBF24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0.97</a:t>
                      </a:r>
                      <a:endParaRPr lang="en-US" sz="12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BBF24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5.9 s</a:t>
                      </a:r>
                      <a:endParaRPr lang="en-US" sz="12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BBF24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0.09</a:t>
                      </a:r>
                      <a:endParaRPr lang="en-US" sz="12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BBF24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−13 %</a:t>
                      </a:r>
                      <a:endParaRPr lang="en-US" sz="12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5577840"/>
            <a:ext cx="1124712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LMS y el elegido llegan a lo que deja Wiener en ~10–12 s; </a:t>
            </a:r>
            <a:r>
              <a:rPr lang="en-US" sz="12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el elegido converge más rápido.</a:t>
            </a:r>
            <a:endParaRPr lang="en-US" sz="12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2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El desajuste negativo no es real:</a:t>
            </a:r>
            <a:r>
              <a:rPr lang="en-US" sz="12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un filtro variante aprovecha correlaciones de casualidad entre s y x en ventanas cortas. Por eso manda RRMSE.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05 · ELECCIÓN DE 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Barrido de M = 1, 2, 3, 5 y 8 con el filtro elegido</a:t>
            </a:r>
            <a:endParaRPr lang="en-US" sz="26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457200" y="1417320"/>
          <a:ext cx="374904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1"/>
          <p:cNvGraphicFramePr/>
          <p:nvPr/>
        </p:nvGraphicFramePr>
        <p:xfrm>
          <a:off x="4343400" y="1417320"/>
          <a:ext cx="374904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 3"/>
          <p:cNvSpPr/>
          <p:nvPr/>
        </p:nvSpPr>
        <p:spPr>
          <a:xfrm>
            <a:off x="8321040" y="1463040"/>
            <a:ext cx="3474720" cy="3657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3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De 1 a 5 casi no cambia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(0.22–0.25); </a:t>
            </a:r>
            <a:r>
              <a:rPr lang="en-US" sz="13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con 8 empeora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(0.31).</a:t>
            </a:r>
            <a:endParaRPr lang="en-US" sz="13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3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El spread crece con M: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cada coeficiente más es un modo lento más (τ_k ≈ 1/(μλ_k)), y hay 20 s para aprender.</a:t>
            </a:r>
            <a:endParaRPr lang="en-US" sz="13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3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M = 1 anda casi igual:</a:t>
            </a:r>
            <a:r>
              <a:rPr lang="en-US" sz="13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confirma que el camino es una ganancia (lag 0 en la inspección).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457200" y="4663440"/>
            <a:ext cx="11247120" cy="1143000"/>
          </a:xfrm>
          <a:prstGeom prst="rect">
            <a:avLst/>
          </a:prstGeom>
          <a:solidFill>
            <a:srgbClr val="101A2E"/>
          </a:solidFill>
          <a:ln w="15875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640080" y="4709160"/>
            <a:ext cx="1088136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Elegimos M = 3:</a:t>
            </a:r>
            <a:r>
              <a:rPr lang="en-US" sz="14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empata con M = 2 como el mejor, coincide con He et al. (2004) y deja comparar con el notebook anterior. t_conv: 6.5 s (M = 1), 5.9 s (M = 3), 8.8 s (M = 8).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05 · ROBUSTEZ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¿Y con más o menos parpadeo? Barrido de SNR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994041"/>
            <a:ext cx="6400800" cy="3235679"/>
          </a:xfrm>
          <a:prstGeom prst="roundRect">
            <a:avLst>
              <a:gd name="adj" fmla="val 1696"/>
            </a:avLst>
          </a:prstGeom>
          <a:solidFill>
            <a:srgbClr val="FFFFFF"/>
          </a:solidFill>
          <a:ln w="15875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tmp/claude-1000/-home-pedro-Documents-pasa-tps/c6b13180-8cb5-4ce6-b36f-44b56b40c212/scratchpad/deck/fig/c084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67193"/>
            <a:ext cx="6254496" cy="3089375"/>
          </a:xfrm>
          <a:prstGeom prst="rect">
            <a:avLst/>
          </a:prstGeom>
        </p:spPr>
      </p:pic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0" y="1463040"/>
          <a:ext cx="4572000" cy="9144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SNR [dB]</a:t>
                      </a:r>
                      <a:endParaRPr lang="en-US" sz="10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−10</a:t>
                      </a:r>
                      <a:endParaRPr lang="en-US" sz="10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−5</a:t>
                      </a:r>
                      <a:endParaRPr lang="en-US" sz="10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0</a:t>
                      </a:r>
                      <a:endParaRPr lang="en-US" sz="10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+5</a:t>
                      </a:r>
                      <a:endParaRPr lang="en-US" sz="10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+10</a:t>
                      </a:r>
                      <a:endParaRPr lang="en-US" sz="10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Sin filtrar</a:t>
                      </a:r>
                      <a:endParaRPr lang="en-US" sz="11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3.7</a:t>
                      </a:r>
                      <a:endParaRPr lang="en-US" sz="11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2.1</a:t>
                      </a:r>
                      <a:endParaRPr lang="en-US" sz="11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1.2</a:t>
                      </a:r>
                      <a:endParaRPr lang="en-US" sz="11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0.65</a:t>
                      </a:r>
                      <a:endParaRPr lang="en-US" sz="11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0.37</a:t>
                      </a:r>
                      <a:endParaRPr lang="en-US" sz="11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NLMS δ chico</a:t>
                      </a:r>
                      <a:endParaRPr lang="en-US" sz="11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1.28</a:t>
                      </a:r>
                      <a:endParaRPr lang="en-US" sz="11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1.25</a:t>
                      </a:r>
                      <a:endParaRPr lang="en-US" sz="11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1.25</a:t>
                      </a:r>
                      <a:endParaRPr lang="en-US" sz="11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1.24</a:t>
                      </a:r>
                      <a:endParaRPr lang="en-US" sz="11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1.24</a:t>
                      </a:r>
                      <a:endParaRPr lang="en-US" sz="11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LMS</a:t>
                      </a:r>
                      <a:endParaRPr lang="en-US" sz="11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0.43</a:t>
                      </a:r>
                      <a:endParaRPr lang="en-US" sz="11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0.27</a:t>
                      </a:r>
                      <a:endParaRPr lang="en-US" sz="11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0.19</a:t>
                      </a:r>
                      <a:endParaRPr lang="en-US" sz="11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0.16</a:t>
                      </a:r>
                      <a:endParaRPr lang="en-US" sz="11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0.14</a:t>
                      </a:r>
                      <a:endParaRPr lang="en-US" sz="11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BBF24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Elegido</a:t>
                      </a:r>
                      <a:endParaRPr lang="en-US" sz="11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BBF24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0.36</a:t>
                      </a:r>
                      <a:endParaRPr lang="en-US" sz="11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BBF24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0.26</a:t>
                      </a:r>
                      <a:endParaRPr lang="en-US" sz="11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BBF24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0.22</a:t>
                      </a:r>
                      <a:endParaRPr lang="en-US" sz="11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BBF24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0.20</a:t>
                      </a:r>
                      <a:endParaRPr lang="en-US" sz="11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BBF24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0.19</a:t>
                      </a:r>
                      <a:endParaRPr lang="en-US" sz="11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132320" y="3429000"/>
            <a:ext cx="4572000" cy="2926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2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δ chico queda en ~1.25 siempre: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con SNR ≥ 0 dB es peor que no filtrar.</a:t>
            </a:r>
            <a:endParaRPr lang="en-US" sz="12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2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El elegido gana con mucho parpadeo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(−10 dB); LMS, con poco. Con mucho parpadeo el seguro actúa más seguido.</a:t>
            </a:r>
            <a:endParaRPr lang="en-US" sz="12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2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2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Piso ~0.14–0.19:</a:t>
            </a:r>
            <a:r>
              <a:rPr lang="en-US" sz="12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el ruido de la referencia y el bias de los coeficientes.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06 · DATOS REALES · LAS SEÑALES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Qué es cada señal en este capítulo</a:t>
            </a:r>
            <a:endParaRPr lang="en-US" sz="26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Señal</a:t>
                      </a:r>
                      <a:endParaRPr lang="en-US" sz="13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En la cuenta</a:t>
                      </a:r>
                      <a:endParaRPr lang="en-US" sz="13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Qué es acá</a:t>
                      </a:r>
                      <a:endParaRPr lang="en-US" sz="13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y(n)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deseada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De nuevo los canales medidos: Fp1, Fp2 y Pz</a:t>
                      </a: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, cada uno por separado. En los gráficos, "Fp1" o "Pz" dice cuál es y(n), y la curva gris es y(n).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x(n)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[HEO(n), HEO(n−1), HEO(n−2)]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La misma referencia que en el cap. 03.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ŷ(n)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wᵀ(n) x(n)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El parpadeo estimado en ese canal</a:t>
                      </a: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, con cada uno de los cuatro filtros.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e(n)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y(n) − ŷ(n)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El EEG estimado.</a:t>
                      </a:r>
                      <a:r>
                        <a:rPr lang="en-US" sz="14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 Las curvas de colores son e(n) de cada filtro.</a:t>
                      </a:r>
                      <a:endParaRPr lang="en-US" sz="14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074920"/>
            <a:ext cx="11064240" cy="1188720"/>
          </a:xfrm>
          <a:prstGeom prst="rect">
            <a:avLst/>
          </a:prstGeom>
          <a:solidFill>
            <a:srgbClr val="101A2E"/>
          </a:solidFill>
          <a:ln w="15875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5120640"/>
            <a:ext cx="1069848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Comparamos cuatro filtros sobre las mismas y(n) y x(n):</a:t>
            </a:r>
            <a:r>
              <a:rPr lang="en-US" sz="13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NLMS δ chico (cap. 03), LMS, el elegido (cap. 05) y Wiener estimado, con w_o = R̂⁻¹p̂ fijo: e = y − w_oᵀx.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06 · DATOS REALES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Sobre la grabación cruda, el elegido hace lo que Wiener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519371" y="1371600"/>
            <a:ext cx="712277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5875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tmp/claude-1000/-home-pedro-Documents-pasa-tps/c6b13180-8cb5-4ce6-b36f-44b56b40c212/scratchpad/deck/fig/c097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523" y="1444752"/>
            <a:ext cx="6976474" cy="1956816"/>
          </a:xfrm>
          <a:prstGeom prst="rect">
            <a:avLst/>
          </a:prstGeom>
        </p:spPr>
      </p:pic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7589520" cy="914400"/>
        </p:xfrm>
        <a:graphic>
          <a:graphicData uri="http://schemas.openxmlformats.org/drawingml/2006/table">
            <a:tbl>
              <a:tblPr/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Fp1</a:t>
                      </a:r>
                      <a:endParaRPr lang="en-US" sz="11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NLMS δ chico</a:t>
                      </a:r>
                      <a:endParaRPr lang="en-US" sz="11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LMS</a:t>
                      </a:r>
                      <a:endParaRPr lang="en-US" sz="11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Elegido</a:t>
                      </a:r>
                      <a:endParaRPr lang="en-US" sz="11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Wiener estimado</a:t>
                      </a:r>
                      <a:endParaRPr lang="en-US" sz="11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Parpadeo en e (en y: 203 µV)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−36 µV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+25 µV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BBF24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+22 µV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+12 µV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0.5–8 Hz con parpadeo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−0.3 dB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−13.2 dB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BBF24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−13.0 dB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−14.2 dB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α sin parpadeo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+1.8 dB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−1.0 dB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BBF24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−1.0 dB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−1.0 dB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RRMSE(e, y) sin parpadeo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0.86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0.31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BBF24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0.31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0.32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ρ(e, x)</a:t>
                      </a:r>
                      <a:endParaRPr lang="en-US" sz="12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−0.13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0.02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BBF24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0.01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0.00</a:t>
                      </a:r>
                      <a:endParaRPr lang="en-US" sz="12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8229600" y="3611880"/>
            <a:ext cx="3520440" cy="2743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Pico: 203 → 22 µV (−19 dB)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en Fp1.</a:t>
            </a:r>
            <a:endParaRPr lang="en-US" sz="11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Pz casi no cambia: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RRMSE 0.07, α −0.03 dB.</a:t>
            </a:r>
            <a:endParaRPr lang="en-US" sz="11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Wiener estimado: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w_o = R̂⁻¹p̂, con R y p promediados sobre los 336 s. Es el mejor filtro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fijo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para esta grabación, y usa toda la grabación (también el futuro):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una referencia, no un filtro que se pueda usar en línea.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06 · DATOS REALES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Los coeficientes: converge la suma, no cada uno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137258" y="1371600"/>
            <a:ext cx="7887005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5875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tmp/claude-1000/-home-pedro-Documents-pasa-tps/c6b13180-8cb5-4ce6-b36f-44b56b40c212/scratchpad/deck/fig/c094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0410" y="1444752"/>
            <a:ext cx="7740701" cy="20482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3703320"/>
            <a:ext cx="11247120" cy="2651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3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Se mueven poco:</a:t>
            </a:r>
            <a:r>
              <a:rPr lang="en-US" sz="13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en Fp1, entre 0 y 0.3 (en la primera corrida, entre −6 y +5).</a:t>
            </a:r>
            <a:endParaRPr lang="en-US" sz="13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3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No llegan a cada w_o, pero sí a su suma:</a:t>
            </a:r>
            <a:r>
              <a:rPr lang="en-US" sz="13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w ≈ [0.20, 0.13, 0.05] contra w_o = [0.32, 0.04, 0.025]. Sumados, </a:t>
            </a:r>
            <a:r>
              <a:rPr lang="en-US" sz="13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0.38 contra 0.39</a:t>
            </a:r>
            <a:r>
              <a:rPr lang="en-US" sz="13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.</a:t>
            </a:r>
            <a:endParaRPr lang="en-US" sz="13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3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Es el spread (2685):</a:t>
            </a:r>
            <a:r>
              <a:rPr lang="en-US" sz="13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HEO(n), HEO(n−1) y HEO(n−2) son casi iguales.</a:t>
            </a:r>
            <a:endParaRPr lang="en-US" sz="13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150" dirty="0">
                <a:solidFill>
                  <a:srgbClr val="64748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     –  </a:t>
            </a:r>
            <a:r>
              <a:rPr lang="en-US" sz="115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Autovalor grande (12 476) → autovector ≈ [1, 1, 1]/√3: la suma, la ganancia. Modo rápido.</a:t>
            </a:r>
            <a:endParaRPr lang="en-US" sz="13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150" dirty="0">
                <a:solidFill>
                  <a:srgbClr val="64748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     –  </a:t>
            </a:r>
            <a:r>
              <a:rPr lang="en-US" sz="115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Autovalores 58 y 4.6 → las diferencias entre coeficientes. 200 a 2700 veces más lentos: no llegan en 336 s.</a:t>
            </a:r>
            <a:endParaRPr lang="en-US" sz="13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3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3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Para limpiar casi no importa:</a:t>
            </a:r>
            <a:r>
              <a:rPr lang="en-US" sz="13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con una entrada lenta lo que cuenta es la ganancia.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06 · DATOS REALES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El mismo tramo de la primera corrida, con el filtro elegido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90737" y="1371600"/>
            <a:ext cx="5567965" cy="3749040"/>
          </a:xfrm>
          <a:prstGeom prst="roundRect">
            <a:avLst>
              <a:gd name="adj" fmla="val 1463"/>
            </a:avLst>
          </a:prstGeom>
          <a:solidFill>
            <a:srgbClr val="FFFFFF"/>
          </a:solidFill>
          <a:ln w="15875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tmp/claude-1000/-home-pedro-Documents-pasa-tps/c6b13180-8cb5-4ce6-b36f-44b56b40c212/scratchpad/deck/fig/c091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889" y="1444752"/>
            <a:ext cx="5421661" cy="360273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5303520"/>
            <a:ext cx="274320" cy="54864"/>
          </a:xfrm>
          <a:prstGeom prst="rect">
            <a:avLst/>
          </a:prstGeom>
          <a:solidFill>
            <a:srgbClr val="999999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914400" y="5212080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gris: </a:t>
            </a:r>
            <a:r>
              <a:rPr lang="en-US" sz="11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y(n)</a:t>
            </a:r>
            <a:r>
              <a:rPr lang="en-US" sz="11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, lo medido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5577840"/>
            <a:ext cx="274320" cy="54864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14400" y="5486400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azul: </a:t>
            </a:r>
            <a:r>
              <a:rPr lang="en-US" sz="11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e(n)</a:t>
            </a:r>
            <a:r>
              <a:rPr lang="en-US" sz="11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de la primera corrida (δ chico)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5852160"/>
            <a:ext cx="274320" cy="54864"/>
          </a:xfrm>
          <a:prstGeom prst="rect">
            <a:avLst/>
          </a:prstGeom>
          <a:solidFill>
            <a:srgbClr val="FF7F0E"/>
          </a:solidFill>
          <a:ln w="12700">
            <a:solidFill>
              <a:srgbClr val="FF7F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914400" y="5760720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naranja: </a:t>
            </a:r>
            <a:r>
              <a:rPr lang="en-US" sz="11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e(n)</a:t>
            </a:r>
            <a:r>
              <a:rPr lang="en-US" sz="11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del elegido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6126480"/>
            <a:ext cx="274320" cy="54864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914400" y="6035040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rojo punteado: parpadeos</a:t>
            </a:r>
            <a:endParaRPr lang="en-US" sz="11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417320"/>
          <a:ext cx="5029200" cy="914400"/>
        </p:xfrm>
        <a:graphic>
          <a:graphicData uri="http://schemas.openxmlformats.org/drawingml/2006/table">
            <a:tbl>
              <a:tblPr/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t [s]</a:t>
                      </a:r>
                      <a:endParaRPr lang="en-US" sz="10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Fp1: y</a:t>
                      </a:r>
                      <a:endParaRPr lang="en-US" sz="10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e δ chico</a:t>
                      </a:r>
                      <a:endParaRPr lang="en-US" sz="10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e elegido</a:t>
                      </a:r>
                      <a:endParaRPr lang="en-US" sz="10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Pz: y</a:t>
                      </a:r>
                      <a:endParaRPr lang="en-US" sz="10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e δ chico</a:t>
                      </a:r>
                      <a:endParaRPr lang="en-US" sz="10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e elegido</a:t>
                      </a:r>
                      <a:endParaRPr lang="en-US" sz="10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43.5</a:t>
                      </a:r>
                      <a:endParaRPr lang="en-US" sz="11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249</a:t>
                      </a:r>
                      <a:endParaRPr lang="en-US" sz="11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315</a:t>
                      </a:r>
                      <a:endParaRPr lang="en-US" sz="11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BBF24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19</a:t>
                      </a:r>
                      <a:endParaRPr lang="en-US" sz="11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52</a:t>
                      </a:r>
                      <a:endParaRPr lang="en-US" sz="11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323</a:t>
                      </a:r>
                      <a:endParaRPr lang="en-US" sz="11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61</a:t>
                      </a:r>
                      <a:endParaRPr lang="en-US" sz="11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47.6</a:t>
                      </a:r>
                      <a:endParaRPr lang="en-US" sz="11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215</a:t>
                      </a:r>
                      <a:endParaRPr lang="en-US" sz="11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94</a:t>
                      </a:r>
                      <a:endParaRPr lang="en-US" sz="11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BBF24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15</a:t>
                      </a:r>
                      <a:endParaRPr lang="en-US" sz="11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36</a:t>
                      </a:r>
                      <a:endParaRPr lang="en-US" sz="11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23</a:t>
                      </a:r>
                      <a:endParaRPr lang="en-US" sz="11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16</a:t>
                      </a:r>
                      <a:endParaRPr lang="en-US" sz="11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50.7</a:t>
                      </a:r>
                      <a:endParaRPr lang="en-US" sz="11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231</a:t>
                      </a:r>
                      <a:endParaRPr lang="en-US" sz="11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−99</a:t>
                      </a:r>
                      <a:endParaRPr lang="en-US" sz="11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BBF24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−26</a:t>
                      </a:r>
                      <a:endParaRPr lang="en-US" sz="11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−17</a:t>
                      </a:r>
                      <a:endParaRPr lang="en-US" sz="11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−31</a:t>
                      </a:r>
                      <a:endParaRPr lang="en-US" sz="11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−18</a:t>
                      </a:r>
                      <a:endParaRPr lang="en-US" sz="11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54.9</a:t>
                      </a:r>
                      <a:endParaRPr lang="en-US" sz="110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257</a:t>
                      </a:r>
                      <a:endParaRPr lang="en-US" sz="11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334</a:t>
                      </a:r>
                      <a:endParaRPr lang="en-US" sz="11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BBF24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−2</a:t>
                      </a:r>
                      <a:endParaRPr lang="en-US" sz="11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71</a:t>
                      </a:r>
                      <a:endParaRPr lang="en-US" sz="11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487</a:t>
                      </a:r>
                      <a:endParaRPr lang="en-US" sz="11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DF7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21</a:t>
                      </a:r>
                      <a:endParaRPr lang="en-US" sz="110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6" name="Text 12"/>
          <p:cNvSpPr/>
          <p:nvPr/>
        </p:nvSpPr>
        <p:spPr>
          <a:xfrm>
            <a:off x="6720840" y="3108960"/>
            <a:ext cx="50292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µV en el pico de y de cada parpadeo (mismos puntos que en la primera corrida).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720840" y="3474720"/>
            <a:ext cx="5029200" cy="283464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6720840" y="3474720"/>
            <a:ext cx="54864" cy="283464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5"/>
          <p:cNvSpPr/>
          <p:nvPr/>
        </p:nvSpPr>
        <p:spPr>
          <a:xfrm>
            <a:off x="6903720" y="35478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BF2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Qué se ve y qué implica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6858000" y="3840480"/>
            <a:ext cx="4846320" cy="2468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Ahora cada parpadeo se va, uno por uno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, no solo en promedio: en Fp1 quedan entre −26 y +19 µV, de ~250.</a:t>
            </a:r>
            <a:endParaRPr lang="en-US" sz="11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Entre parpadeos, la naranja va encima de la gris: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ya no agrega las oscilaciones de la azul (52–55 s).</a:t>
            </a:r>
            <a:endParaRPr lang="en-US" sz="11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En Pz, la naranja es casi la gris: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desaparecen los picos de +323 y +487 µV que inventaba la azul.</a:t>
            </a:r>
            <a:endParaRPr lang="en-US" sz="11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Las ondas lentas siguen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(p. ej. 52–53 s): son la parte común, no están en HEO.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06 · DATOS REALES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Qué frecuencias saca el filtro elegido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45389" y="1371600"/>
            <a:ext cx="8070741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5875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tmp/claude-1000/-home-pedro-Documents-pasa-tps/c6b13180-8cb5-4ce6-b36f-44b56b40c212/scratchpad/deck/fig/c100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8541" y="1444752"/>
            <a:ext cx="7924437" cy="25054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4160520"/>
            <a:ext cx="3657600" cy="214884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457200" y="4160520"/>
            <a:ext cx="54864" cy="21488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" y="42336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Cómo leer el gráfico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94360" y="4526280"/>
            <a:ext cx="3429000" cy="1783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1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PSD:</a:t>
            </a:r>
            <a:r>
              <a:rPr lang="en-US" sz="11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cuánta potencia hay en cada frecuencia. Escala log: cada renglón ×10.</a:t>
            </a:r>
            <a:endParaRPr lang="en-US" sz="11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1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Gris: y. Azul: e con δ chico. Naranja: e del elegido. Negra punteada: e de Wiener.</a:t>
            </a:r>
            <a:endParaRPr lang="en-US" sz="11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1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Naranja </a:t>
            </a:r>
            <a:r>
              <a:rPr lang="en-US" sz="11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debajo</a:t>
            </a:r>
            <a:r>
              <a:rPr lang="en-US" sz="11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de gris = el filtro sacó esa frecuencia.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297680" y="4160520"/>
            <a:ext cx="7406640" cy="214884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297680" y="4160520"/>
            <a:ext cx="54864" cy="214884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480560" y="423367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BF2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Qué se ve y qué implica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434840" y="4526280"/>
            <a:ext cx="7178040" cy="1783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1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Fp1, de 1 a 10 Hz:</a:t>
            </a:r>
            <a:r>
              <a:rPr lang="en-US" sz="11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la naranja queda muy por debajo de la gris (en 5 Hz, ~40 contra ~2.5: </a:t>
            </a:r>
            <a:r>
              <a:rPr lang="en-US" sz="11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más de 10 veces menos</a:t>
            </a:r>
            <a:r>
              <a:rPr lang="en-US" sz="11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). Es la banda del parpadeo.</a:t>
            </a:r>
            <a:endParaRPr lang="en-US" sz="11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1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Fp1, arriba de ~12 Hz:</a:t>
            </a:r>
            <a:r>
              <a:rPr lang="en-US" sz="11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naranja sobre gris. </a:t>
            </a:r>
            <a:r>
              <a:rPr lang="en-US" sz="11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No toca β ni γ.</a:t>
            </a:r>
            <a:endParaRPr lang="en-US" sz="11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1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Pz:</a:t>
            </a:r>
            <a:r>
              <a:rPr lang="en-US" sz="11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naranja y gris coinciden en todo el rango (la gris queda tapada): no había nada que sacar.</a:t>
            </a:r>
            <a:endParaRPr lang="en-US" sz="11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1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La naranja va casi pegada a la negra punteada:</a:t>
            </a:r>
            <a:r>
              <a:rPr lang="en-US" sz="11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el adaptativo hace lo mismo que el mejor filtro fijo.</a:t>
            </a:r>
            <a:endParaRPr lang="en-US" sz="110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10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0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La azul queda por encima de la gris en casi todo el rango:</a:t>
            </a:r>
            <a:r>
              <a:rPr lang="en-US" sz="110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la primera corrida agregaba ruido en todas las frecuencias.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07 · CONCLUSIONES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Sobre datos crudos, el filtro adaptativo saca el parpadeo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2651760" cy="137160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−19 dB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258568"/>
            <a:ext cx="2468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pico del parpadeo en Fp1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(203 → 22 µV)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274320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Pico del parpadeo promedio, tabla del cap. 06: 20·log₁₀(22/203) = −19 dB.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83280" y="1463040"/>
            <a:ext cx="2651760" cy="137160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383280" y="1554480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DD4BF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≈ Wiener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474720" y="2258568"/>
            <a:ext cx="2468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en todas las pruebas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sobre datos reales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880360"/>
            <a:ext cx="274320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Misma tabla: −13.0 vs −14.2 dB, α −1.0 dB en los dos, RRMSE 0.31 vs 0.32. PSD: naranja sobre la negra.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17920" y="1463040"/>
            <a:ext cx="2651760" cy="137160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17920" y="1554480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4ADE8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0.07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309360" y="2258568"/>
            <a:ext cx="2468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RRMSE(e, y) en Pz: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el control queda intacto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17920" y="2880360"/>
            <a:ext cx="274320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RMS(e − y)/RMS(y) en Pz, fuera de los parpadeos. Con δ chico daba 0.87.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052560" y="1463040"/>
            <a:ext cx="2560320" cy="137160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052560" y="155448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BBF2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0.22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144000" y="2258568"/>
            <a:ext cx="2377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RRMSE(e, s) semi-sintético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(sin filtrar: 1.30)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052560" y="2880360"/>
            <a:ext cx="274320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Casilla δ = 100, μ̃ = 0.3 de la grilla del cap. 05 (30 mezclas).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3657600"/>
            <a:ext cx="5486400" cy="265176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48640" y="3657600"/>
            <a:ext cx="54864" cy="265176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31520" y="374904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87171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Pero no como lo planteamos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" y="4096512"/>
            <a:ext cx="5257800" cy="2148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Con δ chico, NLMS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mete más ruido del que saca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: cada parpadeo sale distinto, a Pz le inventa picos de ~490 µV y α sube 1.8 dB (cap. 03).</a:t>
            </a:r>
            <a:endParaRPr lang="en-US" sz="11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Por qué: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HEO tiene 52 veces menos potencia entre parpadeos, y ahí NLMS da pasos 2000 veces más grandes (cap. 04).</a:t>
            </a:r>
            <a:endParaRPr lang="en-US" sz="11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La hipótesis del design review ("NLMS compensa la potencia de x")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no se cumplió, y sabemos por qué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17920" y="3657600"/>
            <a:ext cx="5394960" cy="265176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217920" y="3657600"/>
            <a:ext cx="54864" cy="265176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400800" y="37490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DE8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Lo que funcionó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55080" y="4096512"/>
            <a:ext cx="5166360" cy="2148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NLMS con δ grande: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entre parpadeos μ(n) ≈ μ̃/δ, como LMS; en un parpadeo enorme normaliza y no diverge.</a:t>
            </a:r>
            <a:endParaRPr lang="en-US" sz="11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Evidencia: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w(n) deja de saltar (std 0.42 → 0.02), RRMSE 0.22 contra 0.20 del mejor LMS, y LMS diverge con μ̃ 30 veces más grande (caps. 04 y 05).</a:t>
            </a:r>
            <a:endParaRPr lang="en-US" sz="1150" dirty="0"/>
          </a:p>
          <a:p>
            <a:pPr marL="0" indent="0">
              <a:spcBef>
                <a:spcPts val="700"/>
              </a:spcBef>
              <a:buNone/>
            </a:pPr>
            <a:r>
              <a:rPr lang="en-US" sz="1150" dirty="0">
                <a:solidFill>
                  <a:srgbClr val="22D3EE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▸  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El argumento a favor de NLMS pasa a ser </a:t>
            </a:r>
            <a:r>
              <a:rPr lang="en-US" sz="1150" b="1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"un LMS con estabilidad garantizada"</a:t>
            </a:r>
            <a:r>
              <a:rPr lang="en-US" sz="11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.</a:t>
            </a:r>
            <a:endParaRPr lang="en-US" sz="115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07 · CONCLUSIONES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Los parámetros del filtro y de dónde salió cada uno</a:t>
            </a:r>
            <a:endParaRPr lang="en-US" sz="26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Parámetro</a:t>
                      </a:r>
                      <a:endParaRPr lang="en-US" sz="12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Valor</a:t>
                      </a:r>
                      <a:endParaRPr lang="en-US" sz="12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22D3EE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Cómo se eligió</a:t>
                      </a:r>
                      <a:endParaRPr lang="en-US" sz="12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Referencia x(n)</a:t>
                      </a:r>
                      <a:endParaRPr lang="en-US" sz="13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FBBF24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HEO</a:t>
                      </a:r>
                      <a:endParaRPr lang="en-US" sz="13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Único EOG. ρ = 0.9 con Fp1 en parpadeos, ≈ 0 fuera (cap. 02)</a:t>
                      </a:r>
                      <a:endParaRPr lang="en-US" sz="13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Orden M</a:t>
                      </a:r>
                      <a:endParaRPr lang="en-US" sz="13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FBBF24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3</a:t>
                      </a:r>
                      <a:endParaRPr lang="en-US" sz="13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Lag 0 (cap. 02). Barrido 1–8: de 1 a 5 casi igual, 8 peor; el spread crece con M (cap. 05)</a:t>
                      </a:r>
                      <a:endParaRPr lang="en-US" sz="13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δ</a:t>
                      </a:r>
                      <a:endParaRPr lang="en-US" sz="13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FBBF24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100·M·P_x</a:t>
                      </a:r>
                      <a:endParaRPr lang="en-US" sz="13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Paso chico entre parpadeos (cap. 04); el mejor de la grilla (cap. 05)</a:t>
                      </a:r>
                      <a:endParaRPr lang="en-US" sz="13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μ̃</a:t>
                      </a:r>
                      <a:endParaRPr lang="en-US" sz="13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FBBF24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0.3</a:t>
                      </a:r>
                      <a:endParaRPr lang="en-US" sz="13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Óptimo de la fila δ = 100 en la grilla; estable para todo μ̃ &lt; 2 (cap. 05)</a:t>
                      </a:r>
                      <a:endParaRPr lang="en-US" sz="13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w(0)</a:t>
                      </a:r>
                      <a:endParaRPr lang="en-US" sz="13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FBBF24"/>
                          </a:solidFill>
                          <a:latin typeface="DejaVu Sans Mono" pitchFamily="34" charset="0"/>
                          <a:ea typeface="DejaVu Sans Mono" pitchFamily="34" charset="-122"/>
                          <a:cs typeface="DejaVu Sans Mono" pitchFamily="34" charset="-120"/>
                        </a:rPr>
                        <a:t>0</a:t>
                      </a:r>
                      <a:endParaRPr lang="en-US" sz="1350" dirty="0">
                        <a:latin typeface="DejaVu Sans Mono" charset="0"/>
                        <a:ea typeface="DejaVu Sans Mono" charset="0"/>
                        <a:cs typeface="DejaVu Sans Mon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E6EDF7"/>
                          </a:solidFill>
                          <a:latin typeface="DejaVu Sans" pitchFamily="34" charset="0"/>
                          <a:ea typeface="DejaVu Sans" pitchFamily="34" charset="-122"/>
                          <a:cs typeface="DejaVu Sans" pitchFamily="34" charset="-120"/>
                        </a:rPr>
                        <a:t>Como en el design review; converge en ~6 s</a:t>
                      </a:r>
                      <a:endParaRPr lang="en-US" sz="1350" dirty="0">
                        <a:latin typeface="DejaVu Sans" charset="0"/>
                        <a:ea typeface="DejaVu Sans" charset="0"/>
                        <a:cs typeface="DejaVu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5577840"/>
            <a:ext cx="1124712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94A3B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El μ̃ = 0.03 del dataset anterior no servía acá: los metaparámetros dependen de cómo es la referencia, no solo del algoritmo.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91440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07 · CONCLUSIONES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Lo que queda abierto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440680" cy="205740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864" cy="20574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1554480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BF24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α baja 1 dB en Fp1/Fp2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1901952"/>
            <a:ext cx="516636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Wiener hace lo mismo: viene de los datos. Puede ser EEG frontal que ve HEO (fuga) o movimientos chicos de ojos. Sin ground truth no se separa.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172200" y="1463040"/>
            <a:ext cx="5440680" cy="205740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172200" y="1463040"/>
            <a:ext cx="54864" cy="205740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355080" y="1554480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D3EE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Bias de los coeficientes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55080" y="1901952"/>
            <a:ext cx="516636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Por el spread (2685): converge la ganancia, no cada coeficiente. Casi no afecta la limpieza.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5440680" cy="205740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48640" y="3703320"/>
            <a:ext cx="54864" cy="205740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31520" y="3794760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87171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Parte común lenta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4142232"/>
            <a:ext cx="516636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0.5–3 Hz en todos los canales, no en HEO. Ningún filtro con esta referencia la saca.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172200" y="3703320"/>
            <a:ext cx="5440680" cy="2057400"/>
          </a:xfrm>
          <a:prstGeom prst="rect">
            <a:avLst/>
          </a:prstGeom>
          <a:solidFill>
            <a:srgbClr val="101A2E">
              <a:alpha val="92000"/>
            </a:srgbClr>
          </a:solidFill>
          <a:ln w="12700">
            <a:solidFill>
              <a:srgbClr val="1F3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172200" y="3703320"/>
            <a:ext cx="54864" cy="205740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355080" y="3794760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4A3B8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Alcance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355080" y="4142232"/>
            <a:ext cx="516636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E6EDF7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Un sujeto, una sesión, sin EMG. HEO probablemente es el EOG vertical mal etiquetado.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DejaVu Sans Mono"/>
                <a:ea typeface="DejaVu Sans Mono"/>
                <a:cs typeface="DejaVu Sans Mono"/>
              </a:defRPr>
            </a:lvl1pPr>
          </a:lstStyle>
          <a:p>
            <a:pPr algn="r"/>
            <a:fld id="{F7021451-1387-4CA6-816F-3879F97B5CBC}" type="slidenum">
              <a:rPr lang="en-US" b="0"/>
              <a:t>37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7226</Words>
  <Application>Microsoft Office PowerPoint</Application>
  <PresentationFormat>Widescreen</PresentationFormat>
  <Paragraphs>818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1" baseType="lpstr">
      <vt:lpstr>Arial</vt:lpstr>
      <vt:lpstr>DejaVu Sans</vt:lpstr>
      <vt:lpstr>DejaVu Sans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Denoising de EEG con NLMS: resultados sobre parpadeos reales</dc:title>
  <dc:subject>PptxGenJS Presentation</dc:subject>
  <dc:creator>Pedro Stefoni Rey Iraola, Vito Pensa Piccolo, Javier Pérez Baltasar Loasada</dc:creator>
  <cp:lastModifiedBy>Javier Baltasar Pérez Losada</cp:lastModifiedBy>
  <cp:revision>2</cp:revision>
  <dcterms:created xsi:type="dcterms:W3CDTF">2026-10-21T21:08:10Z</dcterms:created>
  <dcterms:modified xsi:type="dcterms:W3CDTF">2026-10-22T15:10:04Z</dcterms:modified>
</cp:coreProperties>
</file>